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STUDY BOOK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원어민식 영어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스터디북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in Real Life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6334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Plan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210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교과서를 넘어 원어민처럼 생각하고, 말하고, 반응하는 법 — 7개 챕터 + 14개 실습 세션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 USE THIS BOOK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책의 사용법 &amp; 4가지 핵심 기술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712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챕터 표현과 예문을</a:t>
            </a:r>
            <a:endParaRPr lang="en-US" sz="1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내어 읽는다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417320"/>
            <a:ext cx="201168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🎙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4203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말하기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8712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발음·억양을</a:t>
            </a:r>
            <a:endParaRPr lang="en-US" sz="1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 흉내낸다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141732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417320"/>
            <a:ext cx="2011680" cy="5486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1830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28712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채우기·퀴즈로</a:t>
            </a:r>
            <a:endParaRPr lang="en-US" sz="1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내재화한다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141732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41732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894576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4576" y="28712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오답·정답 노트로</a:t>
            </a:r>
            <a:endParaRPr lang="en-US" sz="1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교재를 만든다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572000"/>
            <a:ext cx="8138160" cy="402336"/>
          </a:xfrm>
          <a:prstGeom prst="roundRect">
            <a:avLst>
              <a:gd name="adj" fmla="val 1590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645152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Tip: 한 챕터를 완독 후 실습 세션까지 끝내고 다음으로 넘어가세요. 매일 30분씩 꾸준히 — 4주 후 달라집니다.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THE DIFFERENCE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영어 vs 교과서 영어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EF7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3840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교과서 영어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" y="1865376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are you?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340864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don't understand.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" y="2816352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712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am very happy.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" y="3291840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467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Please give me information.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" y="3767328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22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will go to the bathroom.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79806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29200" y="1371600"/>
            <a:ext cx="3803904" cy="3383280"/>
          </a:xfrm>
          <a:prstGeom prst="roundRect">
            <a:avLst>
              <a:gd name="adj" fmla="val 2703"/>
            </a:avLst>
          </a:prstGeom>
          <a:solidFill>
            <a:srgbClr val="F4FAF7"/>
          </a:solidFill>
          <a:ln w="19050">
            <a:solidFill>
              <a:srgbClr val="2785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371600"/>
            <a:ext cx="3803904" cy="347472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5504" y="140817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 원어민 영어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75504" y="1865376"/>
            <a:ext cx="3529584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9202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Hey! What's up? / How've you been?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75504" y="2340864"/>
            <a:ext cx="3529584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39572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what? / I'm totally lost.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75504" y="2816352"/>
            <a:ext cx="3529584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87121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thrilled! / I'm over the moon!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75504" y="3291840"/>
            <a:ext cx="3529584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3467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Could you fill me in?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75504" y="3767328"/>
            <a:ext cx="3529584" cy="402336"/>
          </a:xfrm>
          <a:prstGeom prst="roundRect">
            <a:avLst>
              <a:gd name="adj" fmla="val 1136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82219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I'll be right back. / Nature calls!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ROOT CAUSES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2062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한국인이 원어민처럼 말하지 못하는 3가지 이유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658368" cy="100584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9888"/>
            <a:ext cx="658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1554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사고 (Translation Thinking)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60704" y="186537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머릿속에서 한국어 → 영어로 번역하는 습관. 원어민은 영어로 바로 생각한다.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42032"/>
            <a:ext cx="658368" cy="1005840"/>
          </a:xfrm>
          <a:prstGeom prst="roundRect">
            <a:avLst>
              <a:gd name="adj" fmla="val 11111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42032"/>
            <a:ext cx="658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0704" y="27066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문법 과잉 (Grammar Anxiety)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0704" y="3017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틀릴까봐 말을 못 꺼내는 두려움. 원어민은 문법보다 의도를 먼저 전달한다.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94176"/>
            <a:ext cx="658368" cy="1005840"/>
          </a:xfrm>
          <a:prstGeom prst="roundRect">
            <a:avLst>
              <a:gd name="adj" fmla="val 11111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94176"/>
            <a:ext cx="658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0704" y="3858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부족 (Expression Gap)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60704" y="416966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교과서 표현만 알고 실제 쓰이는 관용어·슬랭을 모른다. 원어민 대화의 80%는 500~800개 표현이 전부다.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REWIRE YOUR BRAIN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영어로 '생각하는' 뇌 만들기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 (느리고 부자연스러움)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EF7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824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💭 한국어 생각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68249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EF7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6824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번역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8249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EF7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824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문법 검토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168249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EF7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6824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영어 출력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432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방식 (빠르고 자연스러움)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4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24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상황·감정 인식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272491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4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724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영어로 바로 출력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2724912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4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724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자연스러운 대화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훈련 방법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혼잣말 Self-talk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50592" y="37673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감정→영어 연결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37673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이미지+영어 연상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03136" y="376732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꿈에서 영어 나올 때까지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SCIENCE OF IMMERSION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몰입학습(Immersion)의 과학적 근거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🎙  쉐도잉(Shadowing)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62395" y="1499616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8138160" cy="91440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37360"/>
            <a:ext cx="7487107" cy="9144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🎬  미디어 몰입 (드라마·유튜브)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62395" y="2157984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8138160" cy="91440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95728"/>
            <a:ext cx="6836054" cy="9144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  원어민 대화 (언어 교환)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2395" y="281635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54096"/>
            <a:ext cx="8138160" cy="91440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54096"/>
            <a:ext cx="6347765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  AI 롤플레이 연습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2395" y="3474720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12464"/>
            <a:ext cx="8138160" cy="91440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12464"/>
            <a:ext cx="5778094" cy="9144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3308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📖  단어 암기 (플래시카드)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2395" y="4133088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370832"/>
            <a:ext cx="8138160" cy="91440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370832"/>
            <a:ext cx="3092501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663440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4736592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FluentU 영어 학습법 / Ringle 원어민 학습 데이터 / 주 5시간 기준 4주 후 표현 습득률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SELF-CHECK — YOUR LEVEL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현재 레벨 자가진단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08176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08176"/>
            <a:ext cx="2697480" cy="54864"/>
          </a:xfrm>
          <a:prstGeom prst="rect">
            <a:avLst/>
          </a:prstGeom>
          <a:solidFill>
            <a:srgbClr val="4D7A62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9105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4D7A62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A1–A2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9933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(Beginner)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0624" y="2432304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68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기본 인사 가능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" y="2944368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809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자기소개 가능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" y="3456432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현재 시제만 사용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18688" y="1408176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408176"/>
            <a:ext cx="2697480" cy="5486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159105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591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B1–B2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64992" y="19933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중급 (Intermediate)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364992" y="2432304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68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일상 주제 대화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2944368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9809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Idiom 일부 알아들음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3456432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과거·미래 표현 사용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1408176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1408176"/>
            <a:ext cx="2697480" cy="5486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159105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15910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C1+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19933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(Advanced)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09360" y="2432304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2468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슬랭/뉘앙스 파악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944368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9809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비즈니스 영어 능숙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456432"/>
            <a:ext cx="2414016" cy="438912"/>
          </a:xfrm>
          <a:prstGeom prst="roundRect">
            <a:avLst>
              <a:gd name="adj" fmla="val 10417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원어민 속도 대화 가능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663440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4736592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이 스터디북은 A2~B2 학습자에게 최적화되어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GREETINGS &amp; SMALL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인사 &amp; 스몰톡 (Small Talk)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47088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47088"/>
            <a:ext cx="278892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9933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up?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4904" y="23225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지내? (캐주얼)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" y="2596896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651760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"Hey man, what's up? — Not much, just chilling."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847088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847088"/>
            <a:ext cx="278892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9933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How've you been?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64992" y="23225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지냈어? (재회 시)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2596896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651760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"Long time no see! How've you been? — Pretty good!"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847088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1847088"/>
            <a:ext cx="278892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99339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have you been up to?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23225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요즘 뭐 하고 지냈어?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596896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651760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"Haven't seen you — what have you been up to?"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456432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456432"/>
            <a:ext cx="278892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3602736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It's been a while!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74904" y="39319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오랜만이다!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" y="4206240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" y="4261104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"Oh wow, it's been a while! You look great!"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18688" y="3456432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8688" y="3456432"/>
            <a:ext cx="278892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602736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How's it going?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364992" y="39319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돼 가?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64992" y="4206240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4261104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"How's the new job going? — So far so good!"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08776" y="3456432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456432"/>
            <a:ext cx="278892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602736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Catch you later!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355080" y="39319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봐!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4206240"/>
            <a:ext cx="2496312" cy="713232"/>
          </a:xfrm>
          <a:prstGeom prst="roundRect">
            <a:avLst>
              <a:gd name="adj" fmla="val 641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261104"/>
            <a:ext cx="2313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gotta run — catch you later!"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01 · SMALL TALK SITUATION CARDS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Small Talk 상황 카드 6선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51790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☕  카페에서 처음 만난 사람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" y="1975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"This place is always packed, huh?"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" y="24323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"Right? Worth the wait though!"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51790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 회사 엘리베이터에서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1975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"Big meeting today?"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6704" y="24323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"Yeah, wish me luck!"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151790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✈  비행기 옆자리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6792" y="1975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"First time to New York?"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36792" y="24323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"Actually, I grew up there!"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25526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🎉  파티에서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" y="37124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"How do you know the host?"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" y="41696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"We went to college together!"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18688" y="325526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🌧  날씨 이야기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46704" y="37124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"Can you believe this weather?"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6704" y="41696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"I know, it's been so gloomy lately."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08776" y="3255264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 SNS 아이스브레이킹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6792" y="37124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"Did you see that viral video?"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36792" y="41696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"Which one? I need to check!"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EMOTIONS &amp; REACTIONS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&amp; 즉각 반응 표현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0512"/>
            <a:ext cx="2697480" cy="32918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😄 긍정 반응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6771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thrilled!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90779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awesome!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4787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over the moon!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1879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way, that's amazing!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18688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1810512"/>
            <a:ext cx="26974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😢 부정·공감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46704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26771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rough.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46704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90779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feel you.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46704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54787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 sucks.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46704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1879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so sorry to hear that.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63056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1810512"/>
            <a:ext cx="2697480" cy="32918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😲 놀람·황당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26771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what?!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91072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90779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Are you serious?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91072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54787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way!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91072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1879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can't believe it!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02 · EMOTION EXPRESSION DRILL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표현 — 빈칸 채우기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554480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I just got promoted!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" y="18105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Oh wow, ________! You totally deserve it!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181051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(thrilled / I'm so happy for you)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51776" y="1536192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776" y="15361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thrilled!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414016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I failed my driving test again.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" y="2670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________, that must be so frustrating.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26700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(That's rough / I feel you)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51776" y="2395728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2395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rough.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182112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3273552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You won't believe this — I ran into your ex!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" y="35295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________ Are you serious?!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352958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(No way / Wait, what)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51776" y="3255264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325526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way!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041648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133088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My cat is sick.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" y="43891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Oh no, ________.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438912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(sorry to hear / that sucks)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51776" y="4114800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41148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so sorry to hear that.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AGREEMENT / DISAGREEMENT / OPINION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동의·거절·의견 말하기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0512"/>
            <a:ext cx="2697480" cy="32918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동의할 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67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Totally agree!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0779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You took the words right out of my mouth.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5478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That makes a lot of sense.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1879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 couldn't agree more.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1810512"/>
            <a:ext cx="26974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거절·반대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46704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267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I'll pass.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46704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90779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That's not really my thing.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46704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5478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 see your point, but...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46704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41879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I'm not so sure about that.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1810512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1810512"/>
            <a:ext cx="2697480" cy="32918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8470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의견 말하기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223113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2267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Honestly, I think...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87121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90779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If you ask me...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351129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5478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The way I see it...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4151376"/>
            <a:ext cx="2450592" cy="530352"/>
          </a:xfrm>
          <a:prstGeom prst="roundRect">
            <a:avLst>
              <a:gd name="adj" fmla="val 8621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41879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To be fair...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03 · OPINION EXPRESSION 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의견 표현 다이얼로그 실습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9616"/>
            <a:ext cx="384048" cy="475488"/>
          </a:xfrm>
          <a:prstGeom prst="roundRect">
            <a:avLst>
              <a:gd name="adj" fmla="val 11905"/>
            </a:avLst>
          </a:prstGeom>
          <a:solidFill>
            <a:srgbClr val="4D7A62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961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" y="1554480"/>
            <a:ext cx="7882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"Do you think remote work is better than office work?"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384048" cy="475488"/>
          </a:xfrm>
          <a:prstGeom prst="roundRect">
            <a:avLst>
              <a:gd name="adj" fmla="val 11905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696" y="2176272"/>
            <a:ext cx="7882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"Honestly, I think it depends on the person. The way I see it, remote work gives you more flexibility."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384048" cy="475488"/>
          </a:xfrm>
          <a:prstGeom prst="roundRect">
            <a:avLst>
              <a:gd name="adj" fmla="val 11905"/>
            </a:avLst>
          </a:prstGeom>
          <a:solidFill>
            <a:srgbClr val="4D7A62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43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2798064"/>
            <a:ext cx="7882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see your point, but — don't you miss the team vibe?"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384048" cy="475488"/>
          </a:xfrm>
          <a:prstGeom prst="roundRect">
            <a:avLst>
              <a:gd name="adj" fmla="val 1190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6499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" y="3419856"/>
            <a:ext cx="7882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"To be fair, yeah — it can get lonely. I'm not so sure it's perfect for everyone."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384048" cy="475488"/>
          </a:xfrm>
          <a:prstGeom prst="roundRect">
            <a:avLst>
              <a:gd name="adj" fmla="val 11905"/>
            </a:avLst>
          </a:prstGeom>
          <a:solidFill>
            <a:srgbClr val="4D7A62"/>
          </a:solidFill>
          <a:ln w="12700">
            <a:solidFill>
              <a:srgbClr val="4D7A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8678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696" y="4041648"/>
            <a:ext cx="7882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"Totally agree on that. I couldn't agree more."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645152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718304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위 대화를 소리 내어 2회 읽고, 본인의 의견으로 바꿔서 직접 써보세요.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IDIOMS — ESSENTIAL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Idioms 필수 30선 (1/2 — 15선)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47088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 the sack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잠자리에 들다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1847088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Spill the beans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75688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비밀을 누설하다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39896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1847088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Under the weather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몸이 좋지 않다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95544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847088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6984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 the 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86984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어색함을 깨다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51192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1847088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Bite the bullet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42632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이를 악물고 버티다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26080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Beat around the bush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돌려 말하다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84248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84248" y="2926080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688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 it a 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75688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여기까지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9896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9896" y="2926080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31336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Cost an arm and a leg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31336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엄청나게 비싸다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95544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95544" y="2926080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 out of hand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86984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불능이 되다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51192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2926080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 the nail on the head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42632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맞다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005072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hot water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0040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곤경에 처하다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984248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84248" y="4005072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75688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Kill two birds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075688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일석이조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39896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39896" y="4005072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31336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Let the cat out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31336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비밀이 새다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95544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95544" y="4005072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6984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Once in a blue moon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86984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아주 드물게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51192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51192" y="4005072"/>
            <a:ext cx="166420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Pull someone's leg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342632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장난치다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04 · IDIOM FILL-IN-THE-BLANK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Idiom 빈칸 채우기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554480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can't come in today — I'm feeling a bit ________."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18653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under the weather / hit the sack / pull someone's leg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under the weather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43230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"OK guys, it's getting late. Let's ________ and continue tomorrow."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" y="2743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call it a day / break the ice / beat around the bush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706624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706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call it a day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21868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31012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designer bag ________ — I can't believe she spent that much!"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" y="36210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cost an arm and a leg / got out of hand / spilled the beans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3584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cost an arm and a leg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8795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"Stop ________ and just tell me what happened!"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" y="44988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beating around the bush / pulling my leg / hitting the sack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4462272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beating around the bush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PHRASAL VERBS — ESSENTIAL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Phrasal Verbs 핵심 30선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47088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이해하다·알아내다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1847088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 into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75688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우연히 만나다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39896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1847088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Give 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31336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포기하다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95544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847088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6984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Put off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86984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미루다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51192" y="1847088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1847088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9385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Look 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42632" y="23957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찾아보다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26080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Come up with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생각해내다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84248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84248" y="2926080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688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Turn down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75688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거절하다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9896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9896" y="2926080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31336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 along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31336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지내다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95544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95544" y="2926080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 up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86984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헤어지다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51192" y="2926080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2926080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30175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 up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42632" y="3474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나타나다·도착하다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005072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Bring up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0040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언급하다·꺼내다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984248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84248" y="4005072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75688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Hang out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075688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어울리다·놀다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39896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39896" y="4005072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31336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 out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831336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운동하다·잘 되다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95544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95544" y="4005072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6984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 through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586984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겪다·검토하다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51192" y="4005072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51192" y="4005072"/>
            <a:ext cx="1664208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40965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Point out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342632" y="45537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지적하다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05 · PHRASAL VERB QUIZ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Phrasal Verb 퀴즈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554480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need to ________ what this contract clause means."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18653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(figure out / run into / give up)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figure out → 파악하다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43230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"She always ________ important topics during family dinners."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" y="2743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(brings up / shows up / makes up)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2706624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brings up → 꺼내다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21868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31012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"They broke up but ________ after two weeks."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" y="36210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(made up / gave up / looked up)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584448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made up → 화해하다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8795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didn't expect you to ________ so early!"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" y="44988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보기: (show up / hang out / work out)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4462272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show up → 나타나다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SLANG &amp; CASUAL EXPRESSIONS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슬랭 &amp; 캐주얼 표현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47088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47088"/>
            <a:ext cx="2029968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9751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분위기, 느낌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578608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334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"This place has such a good vibe."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04872" y="1847088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847088"/>
            <a:ext cx="2029968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751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엄청 좋다 / 핫하다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2578608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26334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concert was absolutely lit!"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81144" y="1847088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1847088"/>
            <a:ext cx="202996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9751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cap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0872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진짜로 / 거짓말 아님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2578608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6334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cap, that was the best pizza ever."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57416" y="1847088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57416" y="1847088"/>
            <a:ext cx="202996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19751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It's a vibe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67144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공감 / 그 느낌 알아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67144" y="2578608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0296" y="263347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"Sunday morning with coffee — it's a vibe."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474720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474720"/>
            <a:ext cx="2029968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6027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Lowkey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은근히 / 조용히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" y="420624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61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lowkey love that cheesy song."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04872" y="3474720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04872" y="3474720"/>
            <a:ext cx="2029968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36027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Savage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51460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거침없다 / 쿨하다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14600" y="420624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87752" y="4261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comeback was savage!"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81144" y="3474720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1144" y="3474720"/>
            <a:ext cx="202996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36027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Ghost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90872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연락을 끊다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90872" y="420624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4261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 totally ghosted me after our date."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57416" y="3474720"/>
            <a:ext cx="2029968" cy="1499616"/>
          </a:xfrm>
          <a:prstGeom prst="roundRect">
            <a:avLst>
              <a:gd name="adj" fmla="val 4878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57416" y="3474720"/>
            <a:ext cx="2029968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67144" y="36027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Slay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67144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잘 해내다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67144" y="4206240"/>
            <a:ext cx="1810512" cy="640080"/>
          </a:xfrm>
          <a:prstGeom prst="roundRect">
            <a:avLst>
              <a:gd name="adj" fmla="val 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0296" y="4261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"You absolutely slayed that presentation!"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06 · SLANG O/X QUIZ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슬랭 사용법 OX 퀴즈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53619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"This meeting has such a good vibe." — 회의실에서 사용?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4712" y="18105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vibe는 공식·비공식 모두 자연스럽게 쓰임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15798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57984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57984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4712" y="223113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cap, your report was amazing." — 상사에게 사용?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4712" y="25054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슬랭은 캐주얼 관계에서만. 공식 자리에선 어색함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52928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52928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12" y="29260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"She really slayed that interview." — 친구끼리 사용?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4712" y="3200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친한 사이에서 칭찬으로 자주 쓰임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47872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547872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47872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4712" y="362102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lowkey think this plan won't work." — 팀 회의에서?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4712" y="389534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세미 캐주얼 환경이라면 가능. 공식 발표엔 부적합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242816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242816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42816"/>
            <a:ext cx="51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4712" y="43159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 ghosted the client." — 비즈니스 대화에서?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4712" y="45902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'Ghost'는 비즈니스 맥락에서도 널리 통용되는 표현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VS CASUAL ENGLISH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vs 캐주얼 영어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92224"/>
            <a:ext cx="8138160" cy="329184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865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84248" y="1865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💼  비즈니스 영어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865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😊  캐주얼 영어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76272"/>
            <a:ext cx="8138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97480"/>
            <a:ext cx="8138160" cy="9144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267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시작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84248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hope this email finds you well.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49240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Hey! Hope you're doing good!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8138160" cy="530352"/>
          </a:xfrm>
          <a:prstGeom prst="rect">
            <a:avLst/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64408"/>
            <a:ext cx="8138160" cy="9144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시작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84248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 we get started?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Alright, let's dive in!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310128"/>
            <a:ext cx="8138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31336"/>
            <a:ext cx="8138160" cy="9144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못 했을 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84248" y="3401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Could you clarify that point?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3401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Wait, can you run that by me again?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877056"/>
            <a:ext cx="8138160" cy="530352"/>
          </a:xfrm>
          <a:prstGeom prst="rect">
            <a:avLst/>
          </a:prstGeom>
          <a:solidFill>
            <a:srgbClr val="F5FAF7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98264"/>
            <a:ext cx="8138160" cy="9144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9684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동의할 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84248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concur with your assessment.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Yeah, totally agree!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443984"/>
            <a:ext cx="8138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965192"/>
            <a:ext cx="8138160" cy="9144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535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인사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84248" y="4535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Please don't hesitate to reach out.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49240" y="4535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Shoot me a message anytime!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SHADOWING COMPLETE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쉐도잉(Shadowing) 완전 가이드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1572768" cy="5486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572768"/>
            <a:ext cx="566928" cy="566928"/>
          </a:xfrm>
          <a:prstGeom prst="ellipse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선택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Level에 맞는 영상 선택.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있는 것부터 시작.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93392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389888"/>
            <a:ext cx="1572768" cy="5486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456" y="1572768"/>
            <a:ext cx="566928" cy="566928"/>
          </a:xfrm>
          <a:prstGeom prst="ellipse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84832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듣기 → 이해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84832" y="2615184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전체를 먼저 듣고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흐름을 파악한다.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12464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1389888"/>
            <a:ext cx="1572768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1572768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03904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03904" y="2615184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일시정지 후 억양·속도·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감정을 그대로 흉내낸다.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31536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1389888"/>
            <a:ext cx="1572768" cy="5486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572768"/>
            <a:ext cx="566928" cy="566928"/>
          </a:xfrm>
          <a:prstGeom prst="ellipse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22976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없이 반복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22976" y="2615184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소리에만 집중해서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 연속 따라 말한다.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50608" y="1389888"/>
            <a:ext cx="1572768" cy="3246120"/>
          </a:xfrm>
          <a:prstGeom prst="roundRect">
            <a:avLst>
              <a:gd name="adj" fmla="val 4651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389888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62672" y="157276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42048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녹음 &amp; 비교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42048" y="2615184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목소리를 녹음해</a:t>
            </a:r>
            <a:endParaRPr lang="en-US" sz="9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원어민과 직접 비교한다.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663440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4736592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추천: TED-Ed (Lv.1) · Friends/The Office (Lv.2) · Stand-up Comedy (Lv.3)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✏  PRACTICE SESSION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 07 · SHADOWING SCRIPTS — 3 LEVELS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쉐도잉 스크립트 — 3단계 레벨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813816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1 · Slow &amp; Clear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" y="184708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"Hello, everyone. Today, we're going to talk about the importance of learning new languages."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" y="2249424"/>
            <a:ext cx="7882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강세: HEL-lo / IM-por-tance / LEARN-ing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78608"/>
            <a:ext cx="813816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688336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2 · Natural Speed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" y="2962656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"So basically, what happened was — I ran into my old friend and we ended up grabbing coffee for like three hours!"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" y="3364992"/>
            <a:ext cx="7882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연음: ran-into / ended-up / grabbing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94176"/>
            <a:ext cx="81381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803904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3 · Emotion + Rhythm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" y="4078224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"And the thing is — no cap — I have NEVER seen anything like that in my LIFE. Like, it was absolutely INSANE!"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80560"/>
            <a:ext cx="7882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강조: NEVER / LIFE / INSANE 음정 올리기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ERROR &amp; ANSWER NOTEBOOK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오답노트 &amp; 정답노트 시스템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4023360" cy="3419856"/>
          </a:xfrm>
          <a:prstGeom prst="roundRect">
            <a:avLst>
              <a:gd name="adj" fmla="val 2139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53312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3898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 오답노트 (Error Log)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5564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자주 틀리거나 어색하게 쓴 표현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" y="2029968"/>
            <a:ext cx="3730752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8483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I am boring. → I'm bored.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2615184"/>
            <a:ext cx="3730752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700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I'm very hungry. → I'm starving.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" y="3200400"/>
            <a:ext cx="3730752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5526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How are you? → What's up?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" y="3785616"/>
            <a:ext cx="3730752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4048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I will go home. → I'm heading home.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353312"/>
            <a:ext cx="4352544" cy="3419856"/>
          </a:xfrm>
          <a:prstGeom prst="roundRect">
            <a:avLst>
              <a:gd name="adj" fmla="val 2139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353312"/>
            <a:ext cx="4352544" cy="347472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38988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 정답노트 (Expression Log)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175564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원어민이 쓰는 새로운 표현 &amp; 뉘앙스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2029968"/>
            <a:ext cx="4059936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084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It's on me — 내가 낼게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615184"/>
            <a:ext cx="4059936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6700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I'm down for that — 나 할게 / 좋아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3200400"/>
            <a:ext cx="4059936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255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That tracks — 말이 되네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3785616"/>
            <a:ext cx="4059936" cy="493776"/>
          </a:xfrm>
          <a:prstGeom prst="roundRect">
            <a:avLst>
              <a:gd name="adj" fmla="val 9259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I'll touch base — 나중에 연락할게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MEDIA IMMERSION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몰입 — 드라마·팟캐스트·유튜브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697480" cy="3438144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2697480" cy="347472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081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📺  드라마 &amp; 영화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181051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4708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Friends, The Office (일상 영어)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" y="235915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957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Grey's Anatomy (감정 표현)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290779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443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Suits (비즈니스 영어)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" y="349300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56616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영어 자막 → 자막 없이 → 쉐도잉 순서로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371600"/>
            <a:ext cx="2697480" cy="3438144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371600"/>
            <a:ext cx="2697480" cy="347472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4081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🎙  팟캐스트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81051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84708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This American Life (스토리텔링)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46704" y="235915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3957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How I Built This (비즈니스)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46704" y="290779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9443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Radiolab (과학·철학)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46704" y="349300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56616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출퇴근길 30분 매일 듣기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1371600"/>
            <a:ext cx="2697480" cy="3438144"/>
          </a:xfrm>
          <a:prstGeom prst="roundRect">
            <a:avLst>
              <a:gd name="adj" fmla="val 2712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137160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4081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 유튜브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181051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184708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Kurzgesagt (교육 영어)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91072" y="235915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23957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Yes Theory (모험·도전)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2907792"/>
            <a:ext cx="2450592" cy="475488"/>
          </a:xfrm>
          <a:prstGeom prst="roundRect">
            <a:avLst>
              <a:gd name="adj" fmla="val 9615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94436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  TED Talks (설득 영어)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91072" y="3493008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56616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속도 0.75배로 시작, 익숙해지면 1배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LANGUAGE EXCHANGE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원어민 친구 &amp; 언어 교환 실전 가이드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 추천 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1993392" cy="1133856"/>
          </a:xfrm>
          <a:prstGeom prst="roundRect">
            <a:avLst>
              <a:gd name="adj" fmla="val 645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64208"/>
            <a:ext cx="1993392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HelloTalk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원어민과 텍스트·음성 교환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1664208"/>
            <a:ext cx="1993392" cy="1133856"/>
          </a:xfrm>
          <a:prstGeom prst="roundRect">
            <a:avLst>
              <a:gd name="adj" fmla="val 6452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664208"/>
            <a:ext cx="1993392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Tandem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화상 언어 교환 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664208"/>
            <a:ext cx="1993392" cy="1133856"/>
          </a:xfrm>
          <a:prstGeom prst="roundRect">
            <a:avLst>
              <a:gd name="adj" fmla="val 645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664208"/>
            <a:ext cx="1993392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Speaky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100+ 언어 교환 커뮤니티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03136" y="1664208"/>
            <a:ext cx="1993392" cy="1133856"/>
          </a:xfrm>
          <a:prstGeom prst="roundRect">
            <a:avLst>
              <a:gd name="adj" fmla="val 645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664208"/>
            <a:ext cx="1993392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italki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1152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원어민 튜터 매칭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2944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  언어 교환 첫 메시지 템플릿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236976"/>
            <a:ext cx="8138160" cy="1316736"/>
          </a:xfrm>
          <a:prstGeom prst="roundRect">
            <a:avLst>
              <a:gd name="adj" fmla="val 5556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36976"/>
            <a:ext cx="813816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346704"/>
            <a:ext cx="7845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"Hi! I'm KJ from South Korea. I'm learning English and would love to help you with Korean in exchange! I'm especially interested in casual everyday expressions and slang. Would you be up for a language exchange?"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AI-POWERED ENGLISH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영어 학습 — ChatGPT &amp; Claude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813816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499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롤플레이 (Role-play)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" y="177393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"Let's practice a job interview. You're the interviewer, I'm applying for a marketing position."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86000"/>
            <a:ext cx="813816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교정 (Correction)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" y="26700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"Can you correct my English and suggest more natural expressions? Here's what I wrote: [붙여넣기]"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82112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82112"/>
            <a:ext cx="8138160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291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슬랭 설명 (Slang Explainer)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" y="3566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"What does 'it's giving main character energy' mean? When would you use it?"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078224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78224"/>
            <a:ext cx="81381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4187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연습 (Scenario)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" y="44622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"Simulate a casual conversation at a coffee shop. Use natural slang and informal expressions."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30-DAY STUDY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 집중 학습 플랜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993392" cy="3493008"/>
          </a:xfrm>
          <a:prstGeom prst="roundRect">
            <a:avLst>
              <a:gd name="adj" fmla="val 3670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1993392" cy="347472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081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 · Day 1–7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회로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779776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16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Ch.1–2 완독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255264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일상 인사 30개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730752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6732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쉐도잉 Level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4206240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42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표현 노트 시작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1371600"/>
            <a:ext cx="1993392" cy="3493008"/>
          </a:xfrm>
          <a:prstGeom prst="roundRect">
            <a:avLst>
              <a:gd name="adj" fmla="val 3670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0592" y="1371600"/>
            <a:ext cx="199339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14081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2 · Day 8–14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50592" y="18288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542032" y="24140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확장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60320" y="2779776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816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Ch.3–4 완독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255264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Idioms 15개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3730752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76732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미디어 몰입 시작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4206240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4242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오답노트 작성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1371600"/>
            <a:ext cx="1993392" cy="3493008"/>
          </a:xfrm>
          <a:prstGeom prst="roundRect">
            <a:avLst>
              <a:gd name="adj" fmla="val 3670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1371600"/>
            <a:ext cx="1993392" cy="347472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14081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 · Day 15–21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26864" y="18288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🌳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4718304" y="24140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36592" y="2779776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816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Ch.5–6 완독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36592" y="3255264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Phrasal Verbs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36592" y="3730752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76732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AI 롤플레이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36592" y="4206240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4242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언어교환 시작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1371600"/>
            <a:ext cx="1993392" cy="3493008"/>
          </a:xfrm>
          <a:prstGeom prst="roundRect">
            <a:avLst>
              <a:gd name="adj" fmla="val 3670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3136" y="1371600"/>
            <a:ext cx="199339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14081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4 · Day 22–30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03136" y="182880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🏆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894576" y="24140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&amp; 레벨업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12864" y="2779776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86016" y="2816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Ch.7 완독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12864" y="3255264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6016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전체 복습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12864" y="3730752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6016" y="376732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자가진단 테스트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12864" y="4206240"/>
            <a:ext cx="1773936" cy="402336"/>
          </a:xfrm>
          <a:prstGeom prst="roundRect">
            <a:avLst>
              <a:gd name="adj" fmla="val 11364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86016" y="4242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다음 목표 설정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" y="4828032"/>
            <a:ext cx="8138160" cy="219456"/>
          </a:xfrm>
          <a:prstGeom prst="roundRect">
            <a:avLst>
              <a:gd name="adj" fmla="val 25000"/>
            </a:avLst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" y="4864608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매일 30분 투자. 완벽하지 않아도 됩니다. 꾸준함이 전부입니다.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BUILD YOUR EXPRESSION NOTEBOOK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표현 노트 만들기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53312"/>
            <a:ext cx="8138160" cy="1115568"/>
          </a:xfrm>
          <a:prstGeom prst="roundRect">
            <a:avLst>
              <a:gd name="adj" fmla="val 6557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53312"/>
            <a:ext cx="813816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463040"/>
            <a:ext cx="7882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  표현 노트 한 항목 양식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" y="1737360"/>
            <a:ext cx="7882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표현:  What's the deal?   |   뜻: 어떻게 된 거야?   |   상황: 혼란스럽거나 뭔가 잘못됐을 때   |   예문: Hey, what's the deal with the meeting?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33472"/>
            <a:ext cx="2697480" cy="4572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2779776"/>
            <a:ext cx="621792" cy="621792"/>
          </a:xfrm>
          <a:prstGeom prst="ellipse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27797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3개 원칙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" y="3822192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표현 3개만 기록. 많이보다 꾸준히가 핵심이다.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2633472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2633472"/>
            <a:ext cx="269748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2779776"/>
            <a:ext cx="621792" cy="6217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27797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46704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태그 달기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46704" y="3822192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캐주얼·비즈니스·감정·슬랭 태그를 붙여 나중에 빠르게 찾는다.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2633472"/>
            <a:ext cx="2697480" cy="2176272"/>
          </a:xfrm>
          <a:prstGeom prst="roundRect">
            <a:avLst>
              <a:gd name="adj" fmla="val 3361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2633472"/>
            <a:ext cx="2697480" cy="45720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2779776"/>
            <a:ext cx="621792" cy="621792"/>
          </a:xfrm>
          <a:prstGeom prst="ellipse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7797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1072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복습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822192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일요일마다 지난 한 주의 표현을 소리 내어 5회 읽어본다.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SELF-CHECK — LEVEL UP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B4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자가진단 테스트 &amp; 레벨 체크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457200" cy="621792"/>
          </a:xfrm>
          <a:prstGeom prst="roundRect">
            <a:avLst>
              <a:gd name="adj" fmla="val 14000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14447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"I'm totally ________ today." — 바쁘다고 말할 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9848" y="17190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bored  b) swamped  c) excited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153619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536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swamped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75688"/>
            <a:ext cx="457200" cy="621792"/>
          </a:xfrm>
          <a:prstGeom prst="roundRect">
            <a:avLst>
              <a:gd name="adj" fmla="val 14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7568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" y="2148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"Let's ________ for now, it's getting late."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9848" y="24231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make up  b) call it a day  c) give 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224028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240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call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779776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79776"/>
            <a:ext cx="457200" cy="621792"/>
          </a:xfrm>
          <a:prstGeom prst="roundRect">
            <a:avLst>
              <a:gd name="adj" fmla="val 14000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7977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9848" y="28529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"No ________, that was the best meal I've ever had."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69848" y="31272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cap  b) vibe  c) tea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294436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944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a) cap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483864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483864"/>
            <a:ext cx="457200" cy="621792"/>
          </a:xfrm>
          <a:prstGeom prst="roundRect">
            <a:avLst>
              <a:gd name="adj" fmla="val 14000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8386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9848" y="355701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"You really ________ that presentation!"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9848" y="3831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ghosted  b) slayed  c) vibed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0" y="36484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b) slayed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187952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5FA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187952"/>
            <a:ext cx="457200" cy="621792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8795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69848" y="42611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중 가장 캐주얼한 표현은?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69848" y="45354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a) I concur  b) Absolutely  c) For sure!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0" y="435254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352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c) For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52B7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STUDY BOOK —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3152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영어는 언어가 아니라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사고방식이다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5237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is not just words — it's how you think, feel, and see the world.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62656"/>
            <a:ext cx="8138160" cy="16459"/>
          </a:xfrm>
          <a:prstGeom prst="rect">
            <a:avLst/>
          </a:prstGeom>
          <a:solidFill>
            <a:srgbClr val="C5DDD4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090672"/>
            <a:ext cx="2743200" cy="1536192"/>
          </a:xfrm>
          <a:prstGeom prst="roundRect">
            <a:avLst>
              <a:gd name="adj" fmla="val 4762"/>
            </a:avLst>
          </a:prstGeom>
          <a:solidFill>
            <a:srgbClr val="F5FAF7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090672"/>
            <a:ext cx="2743200" cy="54864"/>
          </a:xfrm>
          <a:prstGeom prst="rect">
            <a:avLst/>
          </a:prstGeom>
          <a:solidFill>
            <a:srgbClr val="27855A"/>
          </a:solidFill>
          <a:ln w="12700">
            <a:solidFill>
              <a:srgbClr val="27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" y="3749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8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영어로 생각하라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40599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없이 상황과 감정에서 바로 영어로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090672"/>
            <a:ext cx="2743200" cy="1536192"/>
          </a:xfrm>
          <a:prstGeom prst="roundRect">
            <a:avLst>
              <a:gd name="adj" fmla="val 4762"/>
            </a:avLst>
          </a:prstGeom>
          <a:solidFill>
            <a:srgbClr val="F5FAF7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090672"/>
            <a:ext cx="27432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🗣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01568" y="3749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소리 내어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40599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읽기·쉐도잉·혼잣말 — 입이 기억한다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090672"/>
            <a:ext cx="2743200" cy="1536192"/>
          </a:xfrm>
          <a:prstGeom prst="roundRect">
            <a:avLst>
              <a:gd name="adj" fmla="val 4762"/>
            </a:avLst>
          </a:prstGeom>
          <a:solidFill>
            <a:srgbClr val="F5FAF7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90672"/>
            <a:ext cx="2743200" cy="54864"/>
          </a:xfrm>
          <a:prstGeom prst="rect">
            <a:avLst/>
          </a:prstGeom>
          <a:solidFill>
            <a:srgbClr val="9B6E2A"/>
          </a:solidFill>
          <a:ln w="12700">
            <a:solidFill>
              <a:srgbClr val="9B6E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27648" y="3749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6E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기록이 실력이다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40599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오답노트·정답노트가 나만의 교재가 된다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F2EC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D7A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English Study Book · Vol. 1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2026-03-20T02:38:09Z</dcterms:created>
  <dcterms:modified xsi:type="dcterms:W3CDTF">2026-03-20T02:38:09Z</dcterms:modified>
</cp:coreProperties>
</file>