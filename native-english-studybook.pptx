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NATIVE ENGLISH STUDY BOOK — VOL.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원어민식 영어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스터디북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27249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Native English in Real Life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33101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38221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Slides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01368" y="33101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801368" y="38221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99816" y="33101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099816" y="38221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Expressions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98264" y="33101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398264" y="38221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 Plan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914400"/>
            <a:ext cx="2194560" cy="3474720"/>
          </a:xfrm>
          <a:prstGeom prst="roundRect">
            <a:avLst>
              <a:gd name="adj" fmla="val 500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371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📘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656832" y="2468880"/>
            <a:ext cx="20482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교과서를 넘어</a:t>
            </a:r>
            <a:endParaRPr lang="en-US" sz="10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원어민처럼</a:t>
            </a:r>
            <a:endParaRPr lang="en-US" sz="10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생각하고 말하기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TO USE THIS BOOK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책의 사용법 &amp; 4가지 핵심 기술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55448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737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👁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84048" y="245059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 — 읽기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28346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챕터 표현과 예문을</a:t>
            </a:r>
            <a:endParaRPr lang="en-US" sz="95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소리 내어 읽는다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155448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131A16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737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🎙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60320" y="245059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SHADOW — 따라 말하기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28346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예문을 원어민 발음 그대로</a:t>
            </a:r>
            <a:endParaRPr lang="en-US" sz="95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10회 반복 쉐도잉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155448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131A16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737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✏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36592" y="245059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PRACTICE — 실습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36592" y="28346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빈칸 채우기·퀴즈로</a:t>
            </a:r>
            <a:endParaRPr lang="en-US" sz="95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내재화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03136" y="155448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1737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📓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912864" y="245059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 — 기록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12864" y="28346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오답노트·정답노트에</a:t>
            </a:r>
            <a:endParaRPr lang="en-US" sz="95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나만의 표현 저장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6177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Tip: 한 챕터를 완독 후 실습 세션까지 끝내고 다음으로 넘어가세요. 매일 30분씩 꾸준히 하면 4주 후 확실히 달라집니다.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THE DIFFERENCE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원어민 영어 vs 교과서 영어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3794760" cy="3291840"/>
          </a:xfrm>
          <a:prstGeom prst="roundRect">
            <a:avLst>
              <a:gd name="adj" fmla="val 2778"/>
            </a:avLst>
          </a:prstGeom>
          <a:solidFill>
            <a:srgbClr val="1A0A08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72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📚 교과서 영어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" y="1920240"/>
            <a:ext cx="3474720" cy="420624"/>
          </a:xfrm>
          <a:prstGeom prst="roundRect">
            <a:avLst>
              <a:gd name="adj" fmla="val 13043"/>
            </a:avLst>
          </a:prstGeom>
          <a:solidFill>
            <a:srgbClr val="261410"/>
          </a:solidFill>
          <a:ln w="12700">
            <a:solidFill>
              <a:srgbClr val="3D22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95681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are you?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" y="2414016"/>
            <a:ext cx="3474720" cy="420624"/>
          </a:xfrm>
          <a:prstGeom prst="roundRect">
            <a:avLst>
              <a:gd name="adj" fmla="val 13043"/>
            </a:avLst>
          </a:prstGeom>
          <a:solidFill>
            <a:srgbClr val="261410"/>
          </a:solidFill>
          <a:ln w="12700">
            <a:solidFill>
              <a:srgbClr val="3D22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450592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 don't understand.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907792"/>
            <a:ext cx="3474720" cy="420624"/>
          </a:xfrm>
          <a:prstGeom prst="roundRect">
            <a:avLst>
              <a:gd name="adj" fmla="val 13043"/>
            </a:avLst>
          </a:prstGeom>
          <a:solidFill>
            <a:srgbClr val="261410"/>
          </a:solidFill>
          <a:ln w="12700">
            <a:solidFill>
              <a:srgbClr val="3D22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94436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 am very happy.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3401568"/>
            <a:ext cx="3474720" cy="420624"/>
          </a:xfrm>
          <a:prstGeom prst="roundRect">
            <a:avLst>
              <a:gd name="adj" fmla="val 13043"/>
            </a:avLst>
          </a:prstGeom>
          <a:solidFill>
            <a:srgbClr val="261410"/>
          </a:solidFill>
          <a:ln w="12700">
            <a:solidFill>
              <a:srgbClr val="3D22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438144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Please give me information.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3895344"/>
            <a:ext cx="3474720" cy="420624"/>
          </a:xfrm>
          <a:prstGeom prst="roundRect">
            <a:avLst>
              <a:gd name="adj" fmla="val 13043"/>
            </a:avLst>
          </a:prstGeom>
          <a:solidFill>
            <a:srgbClr val="261410"/>
          </a:solidFill>
          <a:ln w="12700">
            <a:solidFill>
              <a:srgbClr val="3D22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93192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 will go to the bathroom.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60520" y="2834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983480" y="141732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0A1A1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1572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🗣 원어민 영어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38928" y="1920240"/>
            <a:ext cx="3529584" cy="420624"/>
          </a:xfrm>
          <a:prstGeom prst="roundRect">
            <a:avLst>
              <a:gd name="adj" fmla="val 13043"/>
            </a:avLst>
          </a:prstGeom>
          <a:solidFill>
            <a:srgbClr val="0D1F14"/>
          </a:solidFill>
          <a:ln w="12700">
            <a:solidFill>
              <a:srgbClr val="1A30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66944" y="1956816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Hey! What's up? / How've you been?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38928" y="2414016"/>
            <a:ext cx="3529584" cy="420624"/>
          </a:xfrm>
          <a:prstGeom prst="roundRect">
            <a:avLst>
              <a:gd name="adj" fmla="val 13043"/>
            </a:avLst>
          </a:prstGeom>
          <a:solidFill>
            <a:srgbClr val="0D1F14"/>
          </a:solidFill>
          <a:ln w="12700">
            <a:solidFill>
              <a:srgbClr val="1A30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66944" y="245059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Wait, what? / I'm totally lost.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38928" y="2907792"/>
            <a:ext cx="3529584" cy="420624"/>
          </a:xfrm>
          <a:prstGeom prst="roundRect">
            <a:avLst>
              <a:gd name="adj" fmla="val 13043"/>
            </a:avLst>
          </a:prstGeom>
          <a:solidFill>
            <a:srgbClr val="0D1F14"/>
          </a:solidFill>
          <a:ln w="12700">
            <a:solidFill>
              <a:srgbClr val="1A30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66944" y="294436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I'm thrilled! / I'm over the moon!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38928" y="3401568"/>
            <a:ext cx="3529584" cy="420624"/>
          </a:xfrm>
          <a:prstGeom prst="roundRect">
            <a:avLst>
              <a:gd name="adj" fmla="val 13043"/>
            </a:avLst>
          </a:prstGeom>
          <a:solidFill>
            <a:srgbClr val="0D1F14"/>
          </a:solidFill>
          <a:ln w="12700">
            <a:solidFill>
              <a:srgbClr val="1A30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66944" y="3438144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Could you fill me in? / What's the deal?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38928" y="3895344"/>
            <a:ext cx="3529584" cy="420624"/>
          </a:xfrm>
          <a:prstGeom prst="roundRect">
            <a:avLst>
              <a:gd name="adj" fmla="val 13043"/>
            </a:avLst>
          </a:prstGeom>
          <a:solidFill>
            <a:srgbClr val="0D1F14"/>
          </a:solidFill>
          <a:ln w="12700">
            <a:solidFill>
              <a:srgbClr val="1A30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66944" y="393192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I'll be right back. / Nature calls!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ROOT CAUSES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한국인이 원어민처럼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말하지 못하는 3가지 이유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8595360" cy="1024128"/>
          </a:xfrm>
          <a:prstGeom prst="roundRect">
            <a:avLst>
              <a:gd name="adj" fmla="val 7143"/>
            </a:avLst>
          </a:prstGeom>
          <a:solidFill>
            <a:srgbClr val="131A16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156362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60704" y="15636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번역 사고 (Translation Thinking)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0704" y="18745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머릿속에서 한국어 → 영어로 번역하는 습관.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원어민은 영어로 바로 생각한다.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569464"/>
            <a:ext cx="8595360" cy="1024128"/>
          </a:xfrm>
          <a:prstGeom prst="roundRect">
            <a:avLst>
              <a:gd name="adj" fmla="val 7143"/>
            </a:avLst>
          </a:prstGeom>
          <a:solidFill>
            <a:srgbClr val="131A16"/>
          </a:solidFill>
          <a:ln w="19050">
            <a:solidFill>
              <a:srgbClr val="D4A3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271576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60704" y="2715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문법 과잉 (Grammar Anxiety)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0704" y="302666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틀릴까봐 말을 못 꺼내는 두려움.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원어민은 문법보다 의도를 먼저 전달한다.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721608"/>
            <a:ext cx="8595360" cy="1024128"/>
          </a:xfrm>
          <a:prstGeom prst="roundRect">
            <a:avLst>
              <a:gd name="adj" fmla="val 7143"/>
            </a:avLst>
          </a:prstGeom>
          <a:solidFill>
            <a:srgbClr val="131A16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3867912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60704" y="38679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 부족 (Expression Gap)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0704" y="417880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교과서 표현만 알고 실제 쓰이는 관용어·슬랭을 모른다.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원어민 80%의 대화는 500~800개 핵심 표현으로 이뤄진다.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REWIRE YOUR BRAIN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영어로 '생각하는' 뇌 만들기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6F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방식 (느리고 부자연스러움)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700784"/>
            <a:ext cx="1965960" cy="548640"/>
          </a:xfrm>
          <a:prstGeom prst="roundRect">
            <a:avLst>
              <a:gd name="adj" fmla="val 11667"/>
            </a:avLst>
          </a:prstGeom>
          <a:solidFill>
            <a:srgbClr val="26141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70078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💭 한국어 생각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23160" y="1700784"/>
            <a:ext cx="1965960" cy="548640"/>
          </a:xfrm>
          <a:prstGeom prst="roundRect">
            <a:avLst>
              <a:gd name="adj" fmla="val 11667"/>
            </a:avLst>
          </a:prstGeom>
          <a:solidFill>
            <a:srgbClr val="26141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70078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번역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700784"/>
            <a:ext cx="1965960" cy="548640"/>
          </a:xfrm>
          <a:prstGeom prst="roundRect">
            <a:avLst>
              <a:gd name="adj" fmla="val 11667"/>
            </a:avLst>
          </a:prstGeom>
          <a:solidFill>
            <a:srgbClr val="26141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70078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문법 검토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720840" y="1700784"/>
            <a:ext cx="1965960" cy="548640"/>
          </a:xfrm>
          <a:prstGeom prst="roundRect">
            <a:avLst>
              <a:gd name="adj" fmla="val 11667"/>
            </a:avLst>
          </a:prstGeom>
          <a:solidFill>
            <a:srgbClr val="26141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70078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영어 출력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5146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방식 (빠르고 자연스러움)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798064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0A1A10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9806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상황/감정 인식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08960" y="2798064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0A1A10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279806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영어로 바로 출력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0" y="2798064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0A1A10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279806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자연스러운 대화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5844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훈련 방법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858768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E2B2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8587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혼잣말(Self-talk)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E2B2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50592" y="38587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감정→영어 연결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26864" y="3858768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E2B2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6864" y="38587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이미지+영어 연상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03136" y="3858768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E2B2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03136" y="38587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꿈에서 영어 나올 때까지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SCIENCE OF IMMERSION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몰입학습(Immersion)의 과학적 근거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쉐도잉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62395" y="1554480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92%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792224"/>
            <a:ext cx="8138160" cy="82296"/>
          </a:xfrm>
          <a:prstGeom prst="rect">
            <a:avLst/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92224"/>
            <a:ext cx="7487107" cy="8229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1284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미디어 몰입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62395" y="2212848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8138160" cy="82296"/>
          </a:xfrm>
          <a:prstGeom prst="rect">
            <a:avLst/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450592"/>
            <a:ext cx="6836054" cy="8229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71216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언어 교환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62395" y="2871216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108960"/>
            <a:ext cx="8138160" cy="82296"/>
          </a:xfrm>
          <a:prstGeom prst="rect">
            <a:avLst/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108960"/>
            <a:ext cx="6347765" cy="8229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29584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롤플레이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62395" y="3529584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71%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767328"/>
            <a:ext cx="8138160" cy="82296"/>
          </a:xfrm>
          <a:prstGeom prst="rect">
            <a:avLst/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767328"/>
            <a:ext cx="5778094" cy="82296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87952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단어 암기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62395" y="418795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425696"/>
            <a:ext cx="8138160" cy="82296"/>
          </a:xfrm>
          <a:prstGeom prst="rect">
            <a:avLst/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425696"/>
            <a:ext cx="3092501" cy="8229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773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FluentU 영어 학습법 연구 / Ringle 원어민 학습 데이터 / 주 5시간 기준, 4주 후 표현 습득률 측정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SELF-CHECK — YOUR LEVEL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나의 현재 레벨 자가진단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444752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131A16"/>
          </a:solidFill>
          <a:ln w="12700">
            <a:solidFill>
              <a:srgbClr val="8BA8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57276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A1–A2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02336" y="184708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기초 (Beginner)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2336" y="2267712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기본 인사 가능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2336" y="274320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자기소개 가능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2336" y="321868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현재 시제만 사용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18688" y="1444752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131A16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6704" y="157276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B1–B2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46704" y="184708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중급 (Intermediate)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46704" y="2267712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일상 주제 대화 가능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46704" y="274320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Idiom 일부 알아들음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46704" y="321868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과거·미래 표현 사용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3056" y="1444752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157276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C1+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91072" y="184708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고급 (Advanced)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91072" y="2267712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슬랭/뉘앙스 파악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91072" y="274320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비즈니스 영어 능숙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91072" y="321868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원어민 속도 대화 가능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8097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이 스터디북은 A2~B2 학습자에게 최적화되어 있습니다. B2 이상이라면 슬랭·비즈니스 챕터를 집중 학습하세요.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01 · DAILY GREETINGS &amp; SMALL TALK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일상 인사 &amp; 스몰톡 (Small Talk)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353312"/>
            <a:ext cx="2788920" cy="1517904"/>
          </a:xfrm>
          <a:prstGeom prst="roundRect">
            <a:avLst>
              <a:gd name="adj" fmla="val 4819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" y="1481328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What's up?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4904" y="181051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지내? (캐주얼)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4904" y="2084832"/>
            <a:ext cx="2496312" cy="685800"/>
          </a:xfrm>
          <a:prstGeom prst="roundRect">
            <a:avLst>
              <a:gd name="adj" fmla="val 6667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2121408"/>
            <a:ext cx="2276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i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"Hey man, what's up? — Not much, just chilling."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18688" y="1353312"/>
            <a:ext cx="2788920" cy="1517904"/>
          </a:xfrm>
          <a:prstGeom prst="roundRect">
            <a:avLst>
              <a:gd name="adj" fmla="val 4819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481328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How've you been?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64992" y="181051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지냈어? (재회 시)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64992" y="2084832"/>
            <a:ext cx="2496312" cy="685800"/>
          </a:xfrm>
          <a:prstGeom prst="roundRect">
            <a:avLst>
              <a:gd name="adj" fmla="val 6667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121408"/>
            <a:ext cx="2276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i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"Long time no see! How've you been? — Pretty good!"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08776" y="1353312"/>
            <a:ext cx="2788920" cy="1517904"/>
          </a:xfrm>
          <a:prstGeom prst="roundRect">
            <a:avLst>
              <a:gd name="adj" fmla="val 4819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481328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 have you been up to?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181051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요즘 뭐 하고 지냈어?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2084832"/>
            <a:ext cx="2496312" cy="685800"/>
          </a:xfrm>
          <a:prstGeom prst="roundRect">
            <a:avLst>
              <a:gd name="adj" fmla="val 6667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2121408"/>
            <a:ext cx="2276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i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"Haven't seen you in ages — what have you been up to?"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980944"/>
            <a:ext cx="2788920" cy="1517904"/>
          </a:xfrm>
          <a:prstGeom prst="roundRect">
            <a:avLst>
              <a:gd name="adj" fmla="val 4819"/>
            </a:avLst>
          </a:prstGeom>
          <a:solidFill>
            <a:srgbClr val="131A16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" y="3108960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It's been a while!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" y="3438144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오랜만이다!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4904" y="3712464"/>
            <a:ext cx="2496312" cy="685800"/>
          </a:xfrm>
          <a:prstGeom prst="roundRect">
            <a:avLst>
              <a:gd name="adj" fmla="val 6667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749040"/>
            <a:ext cx="2276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i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"Oh wow, it's been a while! You look great!"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18688" y="2980944"/>
            <a:ext cx="2788920" cy="1517904"/>
          </a:xfrm>
          <a:prstGeom prst="roundRect">
            <a:avLst>
              <a:gd name="adj" fmla="val 4819"/>
            </a:avLst>
          </a:prstGeom>
          <a:solidFill>
            <a:srgbClr val="131A16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3108960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How's it going?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64992" y="3438144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돼 가? (상황 묻기)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64992" y="3712464"/>
            <a:ext cx="2496312" cy="685800"/>
          </a:xfrm>
          <a:prstGeom prst="roundRect">
            <a:avLst>
              <a:gd name="adj" fmla="val 6667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3749040"/>
            <a:ext cx="2276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i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"How's the new job going? — So far so good!"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08776" y="2980944"/>
            <a:ext cx="2788920" cy="1517904"/>
          </a:xfrm>
          <a:prstGeom prst="roundRect">
            <a:avLst>
              <a:gd name="adj" fmla="val 4819"/>
            </a:avLst>
          </a:prstGeom>
          <a:solidFill>
            <a:srgbClr val="131A16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3108960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Catch you later!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55080" y="3438144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나중에 봐! / 다음에 봐!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55080" y="3712464"/>
            <a:ext cx="2496312" cy="685800"/>
          </a:xfrm>
          <a:prstGeom prst="roundRect">
            <a:avLst>
              <a:gd name="adj" fmla="val 6667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64808" y="3749040"/>
            <a:ext cx="2276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i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"I gotta run — catch you later!"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✏ PRACTICE SESSION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PRACTICE 01 · SMALL TALK SITUATION CARDS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Small Talk 상황 카드 6선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481328"/>
            <a:ext cx="2788920" cy="1600200"/>
          </a:xfrm>
          <a:prstGeom prst="roundRect">
            <a:avLst>
              <a:gd name="adj" fmla="val 4571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1609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☕ 카페에서 처음 만난 사람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6616" y="19385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 "This place is always packed, huh?"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56616" y="23774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B: "Right? Worth the wait though!"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1481328"/>
            <a:ext cx="2788920" cy="1600200"/>
          </a:xfrm>
          <a:prstGeom prst="roundRect">
            <a:avLst>
              <a:gd name="adj" fmla="val 4571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6704" y="1609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🏢 회사 엘리베이터에서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46704" y="19385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 "Big meeting today?"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46704" y="23774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B: "Yeah, wish me luck!"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08776" y="1481328"/>
            <a:ext cx="2788920" cy="1600200"/>
          </a:xfrm>
          <a:prstGeom prst="roundRect">
            <a:avLst>
              <a:gd name="adj" fmla="val 4571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1609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✈ 비행기 옆자리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36792" y="19385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 "First time to New York?"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36792" y="23774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B: "Actually, I grew up there!"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3218688"/>
            <a:ext cx="2788920" cy="1600200"/>
          </a:xfrm>
          <a:prstGeom prst="roundRect">
            <a:avLst>
              <a:gd name="adj" fmla="val 4571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" y="33467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🎉 파티에서 처음 만난 사람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" y="36758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 "How do you know the host?"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" y="41148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B: "We went to college together!"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18688" y="3218688"/>
            <a:ext cx="2788920" cy="1600200"/>
          </a:xfrm>
          <a:prstGeom prst="roundRect">
            <a:avLst>
              <a:gd name="adj" fmla="val 4571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46704" y="33467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🌧 날씨 이야기 (가장 쉬운 시작)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46704" y="36758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 "Can you believe this weather?"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46704" y="41148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B: "I know, it's been so gloomy lately."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08776" y="3218688"/>
            <a:ext cx="2788920" cy="1600200"/>
          </a:xfrm>
          <a:prstGeom prst="roundRect">
            <a:avLst>
              <a:gd name="adj" fmla="val 4571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6792" y="33467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📱 SNS 아이스브레이킹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36792" y="36758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 "Did you see that viral video?"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36792" y="41148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B: "Which one? I need to check!"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02 · EMOTIONS &amp; REACTIONS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 &amp; 즉각 반응 표현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389888"/>
            <a:ext cx="2697480" cy="3429000"/>
          </a:xfrm>
          <a:prstGeom prst="roundRect">
            <a:avLst>
              <a:gd name="adj" fmla="val 3390"/>
            </a:avLst>
          </a:prstGeom>
          <a:solidFill>
            <a:srgbClr val="131A16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51790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😄 긍정 반응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02336" y="1901952"/>
            <a:ext cx="2450592" cy="530352"/>
          </a:xfrm>
          <a:prstGeom prst="roundRect">
            <a:avLst>
              <a:gd name="adj" fmla="val 10345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93852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I'm thrilled!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2336" y="2560320"/>
            <a:ext cx="2450592" cy="530352"/>
          </a:xfrm>
          <a:prstGeom prst="roundRect">
            <a:avLst>
              <a:gd name="adj" fmla="val 10345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59689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That's awesome!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2336" y="3218688"/>
            <a:ext cx="2450592" cy="530352"/>
          </a:xfrm>
          <a:prstGeom prst="roundRect">
            <a:avLst>
              <a:gd name="adj" fmla="val 10345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325526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I'm over the moon!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02336" y="3877056"/>
            <a:ext cx="2450592" cy="530352"/>
          </a:xfrm>
          <a:prstGeom prst="roundRect">
            <a:avLst>
              <a:gd name="adj" fmla="val 10345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3913632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 way, that's amazing!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18688" y="1389888"/>
            <a:ext cx="2697480" cy="3429000"/>
          </a:xfrm>
          <a:prstGeom prst="roundRect">
            <a:avLst>
              <a:gd name="adj" fmla="val 3390"/>
            </a:avLst>
          </a:prstGeom>
          <a:solidFill>
            <a:srgbClr val="131A16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6704" y="151790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😢 부정·공감 반응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46704" y="1901952"/>
            <a:ext cx="2450592" cy="530352"/>
          </a:xfrm>
          <a:prstGeom prst="roundRect">
            <a:avLst>
              <a:gd name="adj" fmla="val 10345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193852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That's rough.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346704" y="2560320"/>
            <a:ext cx="2450592" cy="530352"/>
          </a:xfrm>
          <a:prstGeom prst="roundRect">
            <a:avLst>
              <a:gd name="adj" fmla="val 10345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259689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 feel you.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346704" y="3218688"/>
            <a:ext cx="2450592" cy="530352"/>
          </a:xfrm>
          <a:prstGeom prst="roundRect">
            <a:avLst>
              <a:gd name="adj" fmla="val 10345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56432" y="325526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That sucks.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346704" y="3877056"/>
            <a:ext cx="2450592" cy="530352"/>
          </a:xfrm>
          <a:prstGeom prst="roundRect">
            <a:avLst>
              <a:gd name="adj" fmla="val 10345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3913632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I'm so sorry to hear that.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63056" y="1389888"/>
            <a:ext cx="2697480" cy="3429000"/>
          </a:xfrm>
          <a:prstGeom prst="roundRect">
            <a:avLst>
              <a:gd name="adj" fmla="val 3390"/>
            </a:avLst>
          </a:prstGeom>
          <a:solidFill>
            <a:srgbClr val="131A16"/>
          </a:solidFill>
          <a:ln w="19050">
            <a:solidFill>
              <a:srgbClr val="D4A3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151790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😲 놀람·황당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91072" y="1901952"/>
            <a:ext cx="2450592" cy="530352"/>
          </a:xfrm>
          <a:prstGeom prst="roundRect">
            <a:avLst>
              <a:gd name="adj" fmla="val 10345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193852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Wait, what?!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91072" y="2560320"/>
            <a:ext cx="2450592" cy="530352"/>
          </a:xfrm>
          <a:prstGeom prst="roundRect">
            <a:avLst>
              <a:gd name="adj" fmla="val 10345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259689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Are you serious?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91072" y="3218688"/>
            <a:ext cx="2450592" cy="530352"/>
          </a:xfrm>
          <a:prstGeom prst="roundRect">
            <a:avLst>
              <a:gd name="adj" fmla="val 10345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25526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 way!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91072" y="3877056"/>
            <a:ext cx="2450592" cy="530352"/>
          </a:xfrm>
          <a:prstGeom prst="roundRect">
            <a:avLst>
              <a:gd name="adj" fmla="val 10345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913632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 can't believe it!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✏ PRACTICE SESSION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PRACTICE 02 · EMOTION EXPRESSION DRILL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 표현 — 빈칸 채우기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26464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1517904"/>
            <a:ext cx="7882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 I just got promoted!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0936" y="177393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B: Oh wow, ________! You totally deserve it!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26480" y="177393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(thrilled / I'm so happy for you / amazing)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267712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2359152"/>
            <a:ext cx="7882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 I failed my driving test again.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0936" y="26151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B: ________, that must be frustrating.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26480" y="261518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(rough / suck / feel you)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3108960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3200400"/>
            <a:ext cx="7882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 You won't believe this — I ran into your ex!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" y="34564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B: ________ Are you serious?!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345643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(No way / Wait what / Come on)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3950208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4041648"/>
            <a:ext cx="7882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 My cat is sick.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0936" y="42976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B: Oh no, ________.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26480" y="429768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(sorry to hear / that sucks / hope it's ok)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03 · AGREEMENT / DISAGREEMENT / OPINION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동의·거절·의견 말하기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697480" cy="3456432"/>
          </a:xfrm>
          <a:prstGeom prst="roundRect">
            <a:avLst>
              <a:gd name="adj" fmla="val 2712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50876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동의할 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02336" y="1883664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Totally agree!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2336" y="2542032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You took the words right out of my mouth.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" y="3200400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That makes a lot of sense.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" y="3858768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I couldn't agree more.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1371600"/>
            <a:ext cx="2697480" cy="3456432"/>
          </a:xfrm>
          <a:prstGeom prst="roundRect">
            <a:avLst>
              <a:gd name="adj" fmla="val 2712"/>
            </a:avLst>
          </a:prstGeom>
          <a:solidFill>
            <a:srgbClr val="131A16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6704" y="150876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거절·반대할 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46704" y="1883664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I'll pass.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46704" y="2542032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That's not really my thing.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46704" y="3200400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I see your point, but...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46704" y="3858768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I'm not so sure about that.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1371600"/>
            <a:ext cx="2697480" cy="3456432"/>
          </a:xfrm>
          <a:prstGeom prst="roundRect">
            <a:avLst>
              <a:gd name="adj" fmla="val 2712"/>
            </a:avLst>
          </a:prstGeom>
          <a:solidFill>
            <a:srgbClr val="131A16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150876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💬 의견 말할 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91072" y="1883664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Honestly, I think...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91072" y="2542032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If you ask me...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91072" y="3200400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The way I see it...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91072" y="3858768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To be fair...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✏ PRACTICE SESSION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PRACTICE 03 · OPINION EXPRESSION SCRIPT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의견 표현 다이얼로그 실습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05256" y="1481328"/>
            <a:ext cx="7882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"Do you think remote work is better than office work?"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05256" y="2103120"/>
            <a:ext cx="7882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"Honestly, I think it depends on the person. The way I see it, remote work gives you more flexibility."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7249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05256" y="2724912"/>
            <a:ext cx="7882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"I see your point, but — don't you miss the team vibe?"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3467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5256" y="3346704"/>
            <a:ext cx="7882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"To be fair, yeah — it can get lonely. I'm not so sure it's perfect for everyone."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9684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05256" y="3968496"/>
            <a:ext cx="7882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"Totally agree on that. I couldn't agree more."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626864"/>
            <a:ext cx="8138160" cy="914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68172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✏ 위 대화를 소리 내어 2회 읽고, 본인 생각으로 대체해 직접 써보세요.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04 · IDIOMS — ESSENTIAL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Idioms 필수 30선 (1/2 — 15선)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389888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4813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Hit the sack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9385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잠자리에 들다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84248" y="1389888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75688" y="14813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Spill the beans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75688" y="19385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비밀을 누설하다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39896" y="1389888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31336" y="14813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Under the weather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31336" y="19385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몸이 좋지 않다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95544" y="1389888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86984" y="14813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Break the ice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86984" y="19385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어색함을 깨다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51192" y="1389888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42632" y="14813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Bite the bullet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42632" y="19385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이를 악물고 버티다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523744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61518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Beat around the bush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30723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돌려 말하다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84248" y="2523744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75688" y="261518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Call it a day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75688" y="30723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오늘은 여기까지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39896" y="2523744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31336" y="261518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Cost an arm and a leg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31336" y="30723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엄청나게 비싸다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95544" y="2523744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86984" y="261518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Get out of hand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86984" y="30723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통제 불능이 되다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51192" y="2523744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42632" y="261518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Hit the nail on the head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42632" y="30723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정확히 맞다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3657600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74904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 hot water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420624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곤경에 처하다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984248" y="3657600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75688" y="374904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Kill two birds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075688" y="420624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일석이조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739896" y="3657600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31336" y="374904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Let the cat out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31336" y="420624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비밀이 새다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95544" y="3657600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86984" y="374904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Once in a blue moon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86984" y="420624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아주 드물게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251192" y="3657600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42632" y="374904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Pull someone's leg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42632" y="420624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장난치다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✏ PRACTICE SESSION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PRACTICE 04 · IDIOM FILL-IN-THE-BLANK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Idiom 빈칸 채우기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26464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517904"/>
            <a:ext cx="7882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"I can't come in today — I'm feeling a bit ________."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9224" y="182880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보기: under the weather / hit the sack / pull someone's leg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under the weather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304288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395728"/>
            <a:ext cx="7882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"OK guys, it's getting late. Let's ________ and continue tomorrow."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" y="27066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보기: call it a day / break the ice / beat around the bush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92240" y="27066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call it a day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182112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3273552"/>
            <a:ext cx="7882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"That designer bag ________ — I can't believe she spent that much!"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9224" y="358444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보기: cost an arm and a leg / got out of hand / spilled the beans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92240" y="35844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cost an arm and a leg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059936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4151376"/>
            <a:ext cx="7882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"Stop ________ and just tell me what happened!"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9224" y="446227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보기: beating around the bush / pulling my leg / hitting the sack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0" y="44622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beating around the bush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05 · PHRASAL VERBS — ESSENTIAL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Phrasal Verbs 핵심 30선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389888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4813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Figure out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19385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이해하다 / 알아내다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84248" y="1389888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75688" y="14813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 into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75688" y="19385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우연히 만나다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39896" y="1389888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31336" y="14813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Give up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31336" y="19385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포기하다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95544" y="1389888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86984" y="14813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Put off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86984" y="19385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미루다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51192" y="1389888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42632" y="14813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Look up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42632" y="19385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찾아보다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523744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61518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Come up with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30723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생각해내다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84248" y="2523744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75688" y="261518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Turn down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75688" y="30723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거절하다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39896" y="2523744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31336" y="261518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Get along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31336" y="30723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지내다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95544" y="2523744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86984" y="261518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Break up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586984" y="30723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헤어지다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51192" y="2523744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42632" y="261518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Show up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342632" y="30723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나타나다 / 도착하다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3657600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74904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Bring up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20040" y="420624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언급하다 / 꺼내다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984248" y="3657600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75688" y="374904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Hang out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075688" y="420624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어울리다 / 놀다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739896" y="3657600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31336" y="374904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 out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831336" y="420624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운동하다 / 잘 되다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95544" y="3657600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86984" y="374904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 through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586984" y="420624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겪다 / 검토하다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251192" y="3657600"/>
            <a:ext cx="1664208" cy="1042416"/>
          </a:xfrm>
          <a:prstGeom prst="roundRect">
            <a:avLst>
              <a:gd name="adj" fmla="val 6140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42632" y="374904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Point out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342632" y="420624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지적하다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✏ PRACTICE SESSION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PRACTICE 05 · PHRASAL VERB QUIZ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상황별 Phrasal Verb 퀴즈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26464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517904"/>
            <a:ext cx="7882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"I need to ________ what 'figure out' means in this context."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9224" y="182880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보기: (figure out / run into / give up)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figure out → 파악하다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304288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395728"/>
            <a:ext cx="7882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"She always ________ important topics during family dinners."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" y="27066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보기: (brings up / shows up / makes up)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92240" y="27066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brings up → 꺼내다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182112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3273552"/>
            <a:ext cx="7882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"They broke up but ________ after two weeks."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9224" y="358444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보기: (made up / gave up / looked up)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92240" y="35844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made up → 화해하다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059936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4151376"/>
            <a:ext cx="7882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"I didn't expect you to ________ so early!"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9224" y="446227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보기: (show up / hang out / work out)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0" y="44622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show up → 나타나다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06 · SLANG &amp; CASUAL EXPRESSIONS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원어민 슬랭 &amp; 캐주얼 표현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371600"/>
            <a:ext cx="2029968" cy="1609344"/>
          </a:xfrm>
          <a:prstGeom prst="roundRect">
            <a:avLst>
              <a:gd name="adj" fmla="val 4545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8328" y="1481328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Vibe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8328" y="18288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분위기, 느낌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" y="2121408"/>
            <a:ext cx="1810512" cy="713232"/>
          </a:xfrm>
          <a:prstGeom prst="roundRect">
            <a:avLst>
              <a:gd name="adj" fmla="val 6410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157984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00" i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"This place has such a good vibe."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04872" y="1371600"/>
            <a:ext cx="2029968" cy="1609344"/>
          </a:xfrm>
          <a:prstGeom prst="roundRect">
            <a:avLst>
              <a:gd name="adj" fmla="val 4545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481328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14600" y="18288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엄청 좋다 / 핫하다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2121408"/>
            <a:ext cx="1810512" cy="713232"/>
          </a:xfrm>
          <a:prstGeom prst="roundRect">
            <a:avLst>
              <a:gd name="adj" fmla="val 6410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2157984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00" i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"That concert was absolutely lit!"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81144" y="1371600"/>
            <a:ext cx="2029968" cy="1609344"/>
          </a:xfrm>
          <a:prstGeom prst="roundRect">
            <a:avLst>
              <a:gd name="adj" fmla="val 4545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1481328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 cap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90872" y="18288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진짜로 / 거짓말 아님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90872" y="2121408"/>
            <a:ext cx="1810512" cy="713232"/>
          </a:xfrm>
          <a:prstGeom prst="roundRect">
            <a:avLst>
              <a:gd name="adj" fmla="val 6410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4024" y="2157984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00" i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"No cap, that was the best pizza ever."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57416" y="1371600"/>
            <a:ext cx="2029968" cy="1609344"/>
          </a:xfrm>
          <a:prstGeom prst="roundRect">
            <a:avLst>
              <a:gd name="adj" fmla="val 4545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67144" y="1481328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It's a vibe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67144" y="18288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공감 / 그 느낌 알아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67144" y="2121408"/>
            <a:ext cx="1810512" cy="713232"/>
          </a:xfrm>
          <a:prstGeom prst="roundRect">
            <a:avLst>
              <a:gd name="adj" fmla="val 6410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0296" y="2157984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00" i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"Sunday morning with coffee — it's a vibe."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3108960"/>
            <a:ext cx="2029968" cy="1609344"/>
          </a:xfrm>
          <a:prstGeom prst="roundRect">
            <a:avLst>
              <a:gd name="adj" fmla="val 4545"/>
            </a:avLst>
          </a:prstGeom>
          <a:solidFill>
            <a:srgbClr val="131A16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3218688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Lowkey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8328" y="356616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은근히 / 조용히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" y="3858768"/>
            <a:ext cx="1810512" cy="713232"/>
          </a:xfrm>
          <a:prstGeom prst="roundRect">
            <a:avLst>
              <a:gd name="adj" fmla="val 6410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895344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00" i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"I lowkey love that cheesy song."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04872" y="3108960"/>
            <a:ext cx="2029968" cy="1609344"/>
          </a:xfrm>
          <a:prstGeom prst="roundRect">
            <a:avLst>
              <a:gd name="adj" fmla="val 4545"/>
            </a:avLst>
          </a:prstGeom>
          <a:solidFill>
            <a:srgbClr val="131A16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3218688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Savage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514600" y="356616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거침없다 / 쿨하다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14600" y="3858768"/>
            <a:ext cx="1810512" cy="713232"/>
          </a:xfrm>
          <a:prstGeom prst="roundRect">
            <a:avLst>
              <a:gd name="adj" fmla="val 6410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87752" y="3895344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00" i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"That comeback was savage!"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81144" y="3108960"/>
            <a:ext cx="2029968" cy="1609344"/>
          </a:xfrm>
          <a:prstGeom prst="roundRect">
            <a:avLst>
              <a:gd name="adj" fmla="val 4545"/>
            </a:avLst>
          </a:prstGeom>
          <a:solidFill>
            <a:srgbClr val="131A16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3218688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Ghost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90872" y="356616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(연락·약속을) 없던 일로 하다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90872" y="3858768"/>
            <a:ext cx="1810512" cy="713232"/>
          </a:xfrm>
          <a:prstGeom prst="roundRect">
            <a:avLst>
              <a:gd name="adj" fmla="val 6410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64024" y="3895344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00" i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"He totally ghosted me after our date."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57416" y="3108960"/>
            <a:ext cx="2029968" cy="1609344"/>
          </a:xfrm>
          <a:prstGeom prst="roundRect">
            <a:avLst>
              <a:gd name="adj" fmla="val 4545"/>
            </a:avLst>
          </a:prstGeom>
          <a:solidFill>
            <a:srgbClr val="131A16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67144" y="3218688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Slay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67144" y="356616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잘 해내다 / 멋지다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67144" y="3858768"/>
            <a:ext cx="1810512" cy="713232"/>
          </a:xfrm>
          <a:prstGeom prst="roundRect">
            <a:avLst>
              <a:gd name="adj" fmla="val 6410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3895344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00" i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"You absolutely slayed that presentation!"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✏ PRACTICE SESSION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PRACTICE 06 · SLANG O/X QUIZ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슬랭 사용법 OX 퀴즈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2646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9848" y="149961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"This meeting has such a good vibe." — 회의실에서 사용?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69848" y="177393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vibe는 공식·비공식 모두 자연스럽게 쓰임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130552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276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9848" y="22037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"No cap, your report was amazing." — 상사에게 사용?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69848" y="2478024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슬랭은 캐주얼 관계에서만 사용할 것. 공식 자리에선 어색함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9848" y="29077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"She really slayed that interview." — 친구끼리 사용?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69848" y="318211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친한 사이에서 칭찬으로 자주 쓰임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538728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9848" y="3611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"I lowkey think this plan won't work." — 팀 회의에서?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69848" y="388620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세미 캐주얼 환경이라면 가능하지만 공식 발표엔 부적합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242816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69848" y="43159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"He ghosted the client." — 비즈니스 대화에서?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69848" y="459028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'Ghost'는 비즈니스 맥락에서도 널리 통용되는 표현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07 · BUSINESS VS CASUAL ENGLISH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vs 캐주얼 영어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8138160" cy="310896"/>
          </a:xfrm>
          <a:prstGeom prst="rect">
            <a:avLst/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3898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84248" y="13898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💼 비즈니스 영어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49240" y="13898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😊 캐주얼 영어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719072"/>
            <a:ext cx="8138160" cy="566928"/>
          </a:xfrm>
          <a:prstGeom prst="rect">
            <a:avLst/>
          </a:prstGeom>
          <a:solidFill>
            <a:srgbClr val="131A16"/>
          </a:solidFill>
          <a:ln w="12700">
            <a:solidFill>
              <a:srgbClr val="131A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시작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84248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 hope this email finds you well.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4924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Hey! Hope you're doing good!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8138160" cy="566928"/>
          </a:xfrm>
          <a:prstGeom prst="rect">
            <a:avLst/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4505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 시작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84248" y="2450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Shall we get started?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2450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Alright, let's dive in!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962656"/>
            <a:ext cx="8138160" cy="566928"/>
          </a:xfrm>
          <a:prstGeom prst="rect">
            <a:avLst/>
          </a:prstGeom>
          <a:solidFill>
            <a:srgbClr val="131A16"/>
          </a:solidFill>
          <a:ln w="12700">
            <a:solidFill>
              <a:srgbClr val="131A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0723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 못 했을 때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84248" y="30723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Could you clarify that point?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49240" y="30723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Wait, can you run that by me again?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584448"/>
            <a:ext cx="8138160" cy="566928"/>
          </a:xfrm>
          <a:prstGeom prst="rect">
            <a:avLst/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36941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동의할 때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84248" y="36941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 concur with your assessment.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49240" y="36941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Yeah, totally agree!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206240"/>
            <a:ext cx="8138160" cy="566928"/>
          </a:xfrm>
          <a:prstGeom prst="rect">
            <a:avLst/>
          </a:prstGeom>
          <a:solidFill>
            <a:srgbClr val="131A16"/>
          </a:solidFill>
          <a:ln w="12700">
            <a:solidFill>
              <a:srgbClr val="131A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43159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마무리 인사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984248" y="4315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Please don't hesitate to reach out.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49240" y="4315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Shoot me a message anytime!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SHADOWING COMPLETE GUIDE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쉐도잉(Shadowing) 완전 가이드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389888"/>
            <a:ext cx="1572768" cy="3246120"/>
          </a:xfrm>
          <a:prstGeom prst="roundRect">
            <a:avLst>
              <a:gd name="adj" fmla="val 4651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517904"/>
            <a:ext cx="548640" cy="5486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517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217627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 선택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2596896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Level에 맞는 영상 선택. 자막 있는 것부터 시작.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93392" y="1389888"/>
            <a:ext cx="1572768" cy="3246120"/>
          </a:xfrm>
          <a:prstGeom prst="roundRect">
            <a:avLst>
              <a:gd name="adj" fmla="val 4651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05456" y="1517904"/>
            <a:ext cx="548640" cy="5486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1517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17627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듣기 → 이해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596896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한 번 전체를 듣고 대략적인 흐름을 파악한다.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12464" y="1389888"/>
            <a:ext cx="1572768" cy="3246120"/>
          </a:xfrm>
          <a:prstGeom prst="roundRect">
            <a:avLst>
              <a:gd name="adj" fmla="val 4651"/>
            </a:avLst>
          </a:prstGeom>
          <a:solidFill>
            <a:srgbClr val="131A16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24528" y="1517904"/>
            <a:ext cx="548640" cy="548640"/>
          </a:xfrm>
          <a:prstGeom prst="ellipse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1517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22192" y="217627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문장씩 따라 말하기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22192" y="2596896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일시정지 후 억양·속도·감정을 그대로 흉내낸다.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31536" y="1389888"/>
            <a:ext cx="1572768" cy="3246120"/>
          </a:xfrm>
          <a:prstGeom prst="roundRect">
            <a:avLst>
              <a:gd name="adj" fmla="val 4651"/>
            </a:avLst>
          </a:prstGeom>
          <a:solidFill>
            <a:srgbClr val="131A16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1517904"/>
            <a:ext cx="548640" cy="548640"/>
          </a:xfrm>
          <a:prstGeom prst="ellipse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517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41264" y="217627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 없이 반복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41264" y="2596896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소리에만 집중해서 3회 연속 정확하게 따라 말한다.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50608" y="1389888"/>
            <a:ext cx="1572768" cy="3246120"/>
          </a:xfrm>
          <a:prstGeom prst="roundRect">
            <a:avLst>
              <a:gd name="adj" fmla="val 4651"/>
            </a:avLst>
          </a:prstGeom>
          <a:solidFill>
            <a:srgbClr val="131A16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62672" y="1517904"/>
            <a:ext cx="548640" cy="5486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1517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60336" y="217627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녹음 &amp; 비교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0336" y="2596896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 목소리를 녹음해 원어민과 직접 비교한다.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47548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소재: TED-Ed (Level 1) · Friends/The Office (Level 2) · Stand-up Comedy (Level 3)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✏ PRACTICE SESSION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PRACTICE 07 · SHADOWING SCRIPTS — 3 LEVELS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쉐도잉 스크립트 — 3단계 레벨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26464"/>
            <a:ext cx="8138160" cy="1005840"/>
          </a:xfrm>
          <a:prstGeom prst="roundRect">
            <a:avLst>
              <a:gd name="adj" fmla="val 7273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517904"/>
            <a:ext cx="7882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Level 1 · Slow &amp; Clear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9224" y="1755648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"Hello, everyone. Today, we're going to talk about the importance of learning new languages."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157984"/>
            <a:ext cx="7882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강세: HEL-lo / IM-por-tance / LEARN-ing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523744"/>
            <a:ext cx="8138160" cy="1005840"/>
          </a:xfrm>
          <a:prstGeom prst="roundRect">
            <a:avLst>
              <a:gd name="adj" fmla="val 7273"/>
            </a:avLst>
          </a:prstGeom>
          <a:solidFill>
            <a:srgbClr val="131A16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615184"/>
            <a:ext cx="7882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Level 2 · Natural Speed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9224" y="2852928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"So basically, what happened was — I ran into my old friend and we ended up grabbing coffee for like three hours!"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9224" y="3255264"/>
            <a:ext cx="7882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연음 주의: ran-into / ended-up / grabbing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3621024"/>
            <a:ext cx="8138160" cy="1005840"/>
          </a:xfrm>
          <a:prstGeom prst="roundRect">
            <a:avLst>
              <a:gd name="adj" fmla="val 7273"/>
            </a:avLst>
          </a:prstGeom>
          <a:solidFill>
            <a:srgbClr val="131A16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3712464"/>
            <a:ext cx="7882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Level 3 · Emotion + Rhythm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9224" y="3950208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"And the thing is — no cap — I have NEVER seen anything like that in my LIFE. Like, it was absolutely INSANE!"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" y="4352544"/>
            <a:ext cx="7882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강조: NEVER / LIFE / INSANE 음정 올리기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ERROR &amp; ANSWER NOTEBOOK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오답노트 &amp; 정답노트 시스템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389888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131A16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1517904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오답노트 (Error Log)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0624" y="1810512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자주 틀리거나 어색하게 쓴 표현 기록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20624" y="2103120"/>
            <a:ext cx="3730752" cy="530352"/>
          </a:xfrm>
          <a:prstGeom prst="roundRect">
            <a:avLst>
              <a:gd name="adj" fmla="val 10345"/>
            </a:avLst>
          </a:prstGeom>
          <a:solidFill>
            <a:srgbClr val="261410"/>
          </a:solidFill>
          <a:ln w="12700">
            <a:solidFill>
              <a:srgbClr val="3D22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157984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내가 쓴 것: I am boring. → ✓ I'm bored.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0624" y="2724912"/>
            <a:ext cx="3730752" cy="530352"/>
          </a:xfrm>
          <a:prstGeom prst="roundRect">
            <a:avLst>
              <a:gd name="adj" fmla="val 10345"/>
            </a:avLst>
          </a:prstGeom>
          <a:solidFill>
            <a:srgbClr val="261410"/>
          </a:solidFill>
          <a:ln w="12700">
            <a:solidFill>
              <a:srgbClr val="3D22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779776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내가 쓴 것: I'm very hungry. → ✓ I'm starving.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0624" y="3346704"/>
            <a:ext cx="3730752" cy="530352"/>
          </a:xfrm>
          <a:prstGeom prst="roundRect">
            <a:avLst>
              <a:gd name="adj" fmla="val 10345"/>
            </a:avLst>
          </a:prstGeom>
          <a:solidFill>
            <a:srgbClr val="261410"/>
          </a:solidFill>
          <a:ln w="12700">
            <a:solidFill>
              <a:srgbClr val="3D22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401568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내가 쓴 것: How are you? → ✓ What's up?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0624" y="3968496"/>
            <a:ext cx="3730752" cy="530352"/>
          </a:xfrm>
          <a:prstGeom prst="roundRect">
            <a:avLst>
              <a:gd name="adj" fmla="val 10345"/>
            </a:avLst>
          </a:prstGeom>
          <a:solidFill>
            <a:srgbClr val="261410"/>
          </a:solidFill>
          <a:ln w="12700">
            <a:solidFill>
              <a:srgbClr val="3D22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4023360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내가 쓴 것: I will go home. → ✓ I'm heading home.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80560" y="1389888"/>
            <a:ext cx="4389120" cy="3383280"/>
          </a:xfrm>
          <a:prstGeom prst="roundRect">
            <a:avLst>
              <a:gd name="adj" fmla="val 2162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517904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정답노트 (Expression Log)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26864" y="1810512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원어민이 쓰는 새로운 표현 &amp; 뉘앙스 기록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26864" y="2103120"/>
            <a:ext cx="4096512" cy="530352"/>
          </a:xfrm>
          <a:prstGeom prst="roundRect">
            <a:avLst>
              <a:gd name="adj" fmla="val 10345"/>
            </a:avLst>
          </a:prstGeom>
          <a:solidFill>
            <a:srgbClr val="0A1A10"/>
          </a:solidFill>
          <a:ln w="12700">
            <a:solidFill>
              <a:srgbClr val="1A30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157984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It's on me — 내가 낼게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26864" y="2724912"/>
            <a:ext cx="4096512" cy="530352"/>
          </a:xfrm>
          <a:prstGeom prst="roundRect">
            <a:avLst>
              <a:gd name="adj" fmla="val 10345"/>
            </a:avLst>
          </a:prstGeom>
          <a:solidFill>
            <a:srgbClr val="0A1A10"/>
          </a:solidFill>
          <a:ln w="12700">
            <a:solidFill>
              <a:srgbClr val="1A30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2779776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I'm down for that — 나 할게 / 좋아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26864" y="3346704"/>
            <a:ext cx="4096512" cy="530352"/>
          </a:xfrm>
          <a:prstGeom prst="roundRect">
            <a:avLst>
              <a:gd name="adj" fmla="val 10345"/>
            </a:avLst>
          </a:prstGeom>
          <a:solidFill>
            <a:srgbClr val="0A1A10"/>
          </a:solidFill>
          <a:ln w="12700">
            <a:solidFill>
              <a:srgbClr val="1A30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3401568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That tracks — 말이 되네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26864" y="3968496"/>
            <a:ext cx="4096512" cy="530352"/>
          </a:xfrm>
          <a:prstGeom prst="roundRect">
            <a:avLst>
              <a:gd name="adj" fmla="val 10345"/>
            </a:avLst>
          </a:prstGeom>
          <a:solidFill>
            <a:srgbClr val="0A1A10"/>
          </a:solidFill>
          <a:ln w="12700">
            <a:solidFill>
              <a:srgbClr val="1A30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4023360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I'll touch base with you — 나중에 연락할게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MEDIA IMMERSION GUIDE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미디어 몰입 — 드라마·팟캐스트·유튜브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389888"/>
            <a:ext cx="2697480" cy="3429000"/>
          </a:xfrm>
          <a:prstGeom prst="roundRect">
            <a:avLst>
              <a:gd name="adj" fmla="val 2712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51790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📺 드라마 &amp; 영화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02336" y="188366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Friends, The Office, Seinfeld (일상 영어)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2336" y="243230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Grey's Anatomy (의료/감정 표현)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2336" y="298094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Suits (비즈니스 영어)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" y="3602736"/>
            <a:ext cx="2450592" cy="493776"/>
          </a:xfrm>
          <a:prstGeom prst="roundRect">
            <a:avLst>
              <a:gd name="adj" fmla="val 9259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3639312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영어 자막 → 자막 없이 → 쉐도잉 순서로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18688" y="1389888"/>
            <a:ext cx="2697480" cy="3429000"/>
          </a:xfrm>
          <a:prstGeom prst="roundRect">
            <a:avLst>
              <a:gd name="adj" fmla="val 2712"/>
            </a:avLst>
          </a:prstGeom>
          <a:solidFill>
            <a:srgbClr val="131A16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6704" y="151790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🎙 팟캐스트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46704" y="188366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This American Life (스토리텔링)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46704" y="243230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How I Built This (비즈니스)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46704" y="298094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Radiolab (과학·철학 영어)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46704" y="3602736"/>
            <a:ext cx="2450592" cy="493776"/>
          </a:xfrm>
          <a:prstGeom prst="roundRect">
            <a:avLst>
              <a:gd name="adj" fmla="val 9259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38144" y="3639312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출퇴근길 30분 매일 듣기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63056" y="1389888"/>
            <a:ext cx="2697480" cy="3429000"/>
          </a:xfrm>
          <a:prstGeom prst="roundRect">
            <a:avLst>
              <a:gd name="adj" fmla="val 2712"/>
            </a:avLst>
          </a:prstGeom>
          <a:solidFill>
            <a:srgbClr val="131A16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151790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6F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 유튜브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91072" y="188366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Kurzgesagt (교육)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91072" y="243230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Yes Theory (모험·도전)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91072" y="298094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TED Talks (설득 영어)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91072" y="3602736"/>
            <a:ext cx="2450592" cy="493776"/>
          </a:xfrm>
          <a:prstGeom prst="roundRect">
            <a:avLst>
              <a:gd name="adj" fmla="val 9259"/>
            </a:avLst>
          </a:prstGeom>
          <a:solidFill>
            <a:srgbClr val="1E2B24"/>
          </a:solidFill>
          <a:ln w="12700">
            <a:solidFill>
              <a:srgbClr val="1E2B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639312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E76F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속도 0.75배로 시작, 익숙해지면 1배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LANGUAGE EXCHANGE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원어민 친구 &amp; 언어 교환 실전 가이드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📱 추천 앱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664208"/>
            <a:ext cx="1993392" cy="1115568"/>
          </a:xfrm>
          <a:prstGeom prst="roundRect">
            <a:avLst>
              <a:gd name="adj" fmla="val 6557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7922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HelloTalk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세계 원어민과 텍스트·음성 교환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1664208"/>
            <a:ext cx="1993392" cy="1115568"/>
          </a:xfrm>
          <a:prstGeom prst="roundRect">
            <a:avLst>
              <a:gd name="adj" fmla="val 6557"/>
            </a:avLst>
          </a:prstGeom>
          <a:solidFill>
            <a:srgbClr val="131A16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8608" y="17922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Tandem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78608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1:1 화상 언어 교환 앱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26864" y="1664208"/>
            <a:ext cx="1993392" cy="1115568"/>
          </a:xfrm>
          <a:prstGeom prst="roundRect">
            <a:avLst>
              <a:gd name="adj" fmla="val 6557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7922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Speaky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100+ 언어 교환 커뮤니티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03136" y="1664208"/>
            <a:ext cx="1993392" cy="1115568"/>
          </a:xfrm>
          <a:prstGeom prst="roundRect">
            <a:avLst>
              <a:gd name="adj" fmla="val 6557"/>
            </a:avLst>
          </a:prstGeom>
          <a:solidFill>
            <a:srgbClr val="131A16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17922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italki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31152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원어민 튜터 매칭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290779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🗣 언어 교환 첫 메시지 템플릿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82112"/>
            <a:ext cx="8138160" cy="1298448"/>
          </a:xfrm>
          <a:prstGeom prst="roundRect">
            <a:avLst>
              <a:gd name="adj" fmla="val 5634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3273552"/>
            <a:ext cx="7845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i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"Hi! I'm KJ from South Korea. I'm learning English and would love to help you with Korean in exchange! I'm especially interested in casual everyday expressions and slang. Would you be up for a language exchange?"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AI-POWERED ENGLISH LEARNING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활용 영어 학습 — ChatGPT &amp; Claude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8138160" cy="804672"/>
          </a:xfrm>
          <a:prstGeom prst="roundRect">
            <a:avLst>
              <a:gd name="adj" fmla="val 9091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4813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롤플레이 (Role-play)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9224" y="175564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"Let's practice a job interview. You're the interviewer, I'm applying for a marketing position."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8138160" cy="804672"/>
          </a:xfrm>
          <a:prstGeom prst="roundRect">
            <a:avLst>
              <a:gd name="adj" fmla="val 9091"/>
            </a:avLst>
          </a:prstGeom>
          <a:solidFill>
            <a:srgbClr val="131A16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23774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 교정 (Correction)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9224" y="26517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"Can you correct my English and suggest more natural expressions? Here's what I wrote: [붙여넣기]"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182112"/>
            <a:ext cx="8138160" cy="804672"/>
          </a:xfrm>
          <a:prstGeom prst="roundRect">
            <a:avLst>
              <a:gd name="adj" fmla="val 9091"/>
            </a:avLst>
          </a:prstGeom>
          <a:solidFill>
            <a:srgbClr val="131A16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32735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슬랭 설명 (Slang Explainer)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" y="354787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"What does 'it's giving main character energy' mean? When would you use it?"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4078224"/>
            <a:ext cx="8138160" cy="804672"/>
          </a:xfrm>
          <a:prstGeom prst="roundRect">
            <a:avLst>
              <a:gd name="adj" fmla="val 9091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1696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연습 (Scenario)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" y="444398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"Simulate a casual conversation at a coffee shop. Use natural slang and informal expressions."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30-DAY STUDY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30일 집중 학습 플랜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993392" cy="3474720"/>
          </a:xfrm>
          <a:prstGeom prst="roundRect">
            <a:avLst>
              <a:gd name="adj" fmla="val 3670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49961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84048" y="199339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 (Day 1–7)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84048" y="2231136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기초 회로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263347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Ch. 1–2 완독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3108960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일상 인사 30개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3584448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쉐도잉 Level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405993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표현 노트 시작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50592" y="1371600"/>
            <a:ext cx="1993392" cy="3474720"/>
          </a:xfrm>
          <a:prstGeom prst="roundRect">
            <a:avLst>
              <a:gd name="adj" fmla="val 3670"/>
            </a:avLst>
          </a:prstGeom>
          <a:solidFill>
            <a:srgbClr val="131A16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49961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🌿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60320" y="199339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2 (Day 8–14)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60320" y="2231136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 확장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263347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Ch. 3–4 완독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3108960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Idioms 15개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3584448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미디어 몰입 시작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405993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오답노트 작성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26864" y="1371600"/>
            <a:ext cx="1993392" cy="3474720"/>
          </a:xfrm>
          <a:prstGeom prst="roundRect">
            <a:avLst>
              <a:gd name="adj" fmla="val 3670"/>
            </a:avLst>
          </a:prstGeom>
          <a:solidFill>
            <a:srgbClr val="131A16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149961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🌳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36592" y="199339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3 (Day 15–21)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36592" y="2231136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실전 적용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36592" y="263347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Ch. 5–6 완독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36592" y="3108960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Phrasal Verbs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36592" y="3584448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AI 롤플레이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36592" y="405993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언어교환 시작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03136" y="1371600"/>
            <a:ext cx="1993392" cy="3474720"/>
          </a:xfrm>
          <a:prstGeom prst="roundRect">
            <a:avLst>
              <a:gd name="adj" fmla="val 3670"/>
            </a:avLst>
          </a:prstGeom>
          <a:solidFill>
            <a:srgbClr val="131A16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03136" y="149961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🏆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912864" y="199339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4 (Day 22–30)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912864" y="2231136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&amp; 레벨업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12864" y="263347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Ch. 7 완독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12864" y="3108960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전체 복습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12864" y="3584448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자가진단 테스트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12864" y="405993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다음 목표 설정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479145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4A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매일 30분 투자. 완벽하지 않아도 됩니다. 꾸준함이 전부입니다.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BUILD YOUR EXPRESSION NOTEBOOK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나만의 표현 노트 만들기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97280"/>
          </a:xfrm>
          <a:prstGeom prst="roundRect">
            <a:avLst>
              <a:gd name="adj" fmla="val 6667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481328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📓 표현 노트 한 항목 양식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7512" y="1792224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표현:  What's the deal?  |  뜻: 어떻게 된 거야? / 무슨 일이야?  |  상황: 혼란스럽거나 뭔가 잘못됐을 때  |  예문: Hey, what's the deal with the meeting?  |  날짜: 2026.03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2615184"/>
            <a:ext cx="2697480" cy="2176272"/>
          </a:xfrm>
          <a:prstGeom prst="roundRect">
            <a:avLst>
              <a:gd name="adj" fmla="val 3361"/>
            </a:avLst>
          </a:prstGeom>
          <a:solidFill>
            <a:srgbClr val="131A1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16736" y="2724912"/>
            <a:ext cx="621792" cy="6217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6736" y="27249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1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" y="343814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3개 원칙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" y="3767328"/>
            <a:ext cx="24140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 표현을 3개만 기록. 많이보다 꾸준히가 핵심이다.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18688" y="2615184"/>
            <a:ext cx="2697480" cy="2176272"/>
          </a:xfrm>
          <a:prstGeom prst="roundRect">
            <a:avLst>
              <a:gd name="adj" fmla="val 3361"/>
            </a:avLst>
          </a:prstGeom>
          <a:solidFill>
            <a:srgbClr val="131A16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61104" y="2724912"/>
            <a:ext cx="621792" cy="621792"/>
          </a:xfrm>
          <a:prstGeom prst="ellipse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61104" y="27249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1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64992" y="343814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 태그 달기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64992" y="3767328"/>
            <a:ext cx="24140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캐주얼 / 비즈니스 / 감정 / 슬랭 등 태그를 붙여 나중에 찾기 쉽게.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63056" y="2615184"/>
            <a:ext cx="2697480" cy="2176272"/>
          </a:xfrm>
          <a:prstGeom prst="roundRect">
            <a:avLst>
              <a:gd name="adj" fmla="val 3361"/>
            </a:avLst>
          </a:prstGeom>
          <a:solidFill>
            <a:srgbClr val="131A16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05472" y="2724912"/>
            <a:ext cx="621792" cy="62179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05472" y="27249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1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343814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1회 복습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3767328"/>
            <a:ext cx="24140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일요일마다 지난 한 주의 표현을 소리 내어 5회 읽어본다.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SELF-CHECK — LEVEL UP TEST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자가진단 테스트 &amp; 레벨 체크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621792"/>
          </a:xfrm>
          <a:prstGeom prst="roundRect">
            <a:avLst>
              <a:gd name="adj" fmla="val 10294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4447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Q1. "I'm totally ________ today." — 바쁘다고 말할 때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30936" y="17007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a) bored  b) swamped  c) excited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949440" y="15544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b) swamped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075688"/>
            <a:ext cx="8138160" cy="621792"/>
          </a:xfrm>
          <a:prstGeom prst="roundRect">
            <a:avLst>
              <a:gd name="adj" fmla="val 10294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14884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Q2. "Let's ________ for now, it's getting late."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0936" y="24048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a) make up  b) call it a day  c) give up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949440" y="2258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b) call it a day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779776"/>
            <a:ext cx="8138160" cy="621792"/>
          </a:xfrm>
          <a:prstGeom prst="roundRect">
            <a:avLst>
              <a:gd name="adj" fmla="val 10294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" y="28529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Q3. "No ________, that was the best meal I've ever had."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0936" y="31089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a) cap  b) vibe  c) tea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49440" y="29626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a) cap (= 진짜로)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483864"/>
            <a:ext cx="8138160" cy="621792"/>
          </a:xfrm>
          <a:prstGeom prst="roundRect">
            <a:avLst>
              <a:gd name="adj" fmla="val 10294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" y="35570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Q4. "You really ________ that presentation!"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" y="38130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a) ghosted  b) slayed  c) vibed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49440" y="36667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b) slayed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4187952"/>
            <a:ext cx="8138160" cy="621792"/>
          </a:xfrm>
          <a:prstGeom prst="roundRect">
            <a:avLst>
              <a:gd name="adj" fmla="val 10294"/>
            </a:avLst>
          </a:prstGeom>
          <a:solidFill>
            <a:srgbClr val="131A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" y="4261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Q5. 이 중 가장 캐주얼한 표현은?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" y="451713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a) I concur  b) Absolutely  c) For sure!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49440" y="4370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c) For sure!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 — NATIVE ENGLISH IN REAL LIFE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영어는 언어가 아니라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사고방식이다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560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Language is not just words — it's how you think, feel, and see the world.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090672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9264" y="30906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영어로 생각하라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9264" y="33101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번역 없이 상황과 감정에서 바로 영어로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58444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🗣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9264" y="35844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소리 내어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9264" y="38039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읽기·쉐도잉·혼잣말 — 입이 기억한다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4078224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9264" y="40782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기록이 실력이다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9264" y="42976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오답노트·정답노트가 나만의 교재가 된다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8BA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Native English Study Book · Vol. 1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2026-03-20T02:19:56Z</dcterms:created>
  <dcterms:modified xsi:type="dcterms:W3CDTF">2026-03-20T02:19:56Z</dcterms:modified>
</cp:coreProperties>
</file>